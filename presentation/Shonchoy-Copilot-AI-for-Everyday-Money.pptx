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IBM Plex Sans"/>
      <p:regular r:id="rId201314"/>
    </p:embeddedFont>
    <p:embeddedFont>
      <p:font typeface="IBM Plex Sans SemiBold"/>
      <p:regular r:id="rId201315"/>
    </p:embeddedFont>
    <p:embeddedFont>
      <p:font typeface="IBM Plex Sans Bold"/>
      <p:regular r:id="rId201316"/>
    </p:embeddedFont>
    <p:embeddedFont>
      <p:font typeface="Newsreader"/>
      <p:regular r:id="rId201317"/>
    </p:embeddedFont>
    <p:embeddedFont>
      <p:font typeface="Newsreader SemiBold"/>
      <p:regular r:id="rId201318"/>
    </p:embeddedFont>
    <p:embeddedFont>
      <p:font typeface="Newsreader 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30 seconds. We are Team Polaris, presenting Shonchoy Copilot at AI Dev Fest at Daffodil International University. This talk connects everyday money questions with an approachable AI workflow.
Transition: Start with a question a shop owner should be able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45 seconds. Ask the room to think about their own last month of spending. For a small shop, money can pass through several records without producing a clear monthly picture. When that picture is missing, opportunities to save can go unnoticed.
Transition: Here is the route from that problem to a working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 seconds. We will begin with the everyday workflow, then unpack forecasting and language generation. The shop example will connect the demo to its intended impact, before three developer takeaways.
Transition: First, look at how the records work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45 seconds. The records may exist, but they are scattered across notebooks and memory. Without forecasting, upcoming obligations are hard to see alongside today's cash. A language mismatch adds friction before an app can become a habit.
Transition: Shonchoy starts with that language and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60 seconds. Shonchoy is a Bengali-first financial copilot with voice and text input. In the supplied example, income is ৳22,000 and the copilot identifies a ৳320 savings opportunity; this is an example, not a measured outcome. NLP stands for natural language processing, the tools that help software understand human language.
Transition: Understanding the question is one part; anticipating the next bill is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60 seconds. Read the process from left to right: transaction history feeds a model that looks for recurring patterns. In this example, expenses are predicted to rise between the 28th and 31st, with lender payment on March 28 and shop rent on March 29. Forecasts are estimates, so reminders should help users prepare rather than promise certainty.
Transition: Now connect those records to a natural-language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75 seconds. This is illustrative pseudocode, not the application's implementation. The important move is retrieving transactions before constructing the prompt, so the language model receives relevant context. LLM means large language model: it generates the wording of the Bengali answer, while the surrounding system must check the facts.
Transition: See how this becomes useful in the neighborhood 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75 seconds. The owner asks whether saving is possible this month, and the example response surfaces the ৳320 opportunity alongside the approaching rent obligation. The intended impact is a clearer decision before money is spent, not a guaranteed saving. Shonchoy provides educational guidance, and money must never move without the user's permission.
Transition: Those choices lead to three principles for builders.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45 seconds. Build around the language and records users already rely on. Forecast upcoming obligations before suggesting a savings action. Keep recommendations understandable and preserve the user's authority over every financial action.
Transition: The app link is next; bring your questions about the workflow or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 seconds, then Q&amp;A. Invite the audience to try the app at shonchoy-copilot.vercel.app. The contact fields are clearly marked placeholders to replace before presenting.
Transition to Q&amp;A: Which part would you like to unpack: language, forecasting, or user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B1030"/>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B103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shonchoy-copilot.vercel.app" TargetMode="External"/><Relationship Id="rId2" Type="http://schemas.openxmlformats.org/officeDocument/2006/relationships/hyperlink" Target="https://github.com/Soumitra-32/AI_DEV_FEST/" TargetMode="External"/><Relationship Id="rId3" Type="http://schemas.openxmlformats.org/officeDocument/2006/relationships/image" Target="../media/image-10-1.jpe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609600"/>
            <a:ext cx="6705432" cy="182860"/>
          </a:xfrm>
          <a:prstGeom prst="rect">
            <a:avLst/>
          </a:prstGeom>
          <a:noFill/>
          <a:ln/>
        </p:spPr>
        <p:txBody>
          <a:bodyPr wrap="none" lIns="0" tIns="0" rIns="0" bIns="0" rtlCol="0" anchor="t"/>
          <a:lstStyle/>
          <a:p>
            <a:pPr algn="l" indent="0" marL="0">
              <a:lnSpc>
                <a:spcPct val="100000"/>
              </a:lnSpc>
              <a:buNone/>
            </a:pPr>
            <a:r>
              <a:rPr lang="en-US" sz="1200" spc="144" kern="100" dirty="0">
                <a:solidFill>
                  <a:srgbClr val="F2ECFF"/>
                </a:solidFill>
                <a:latin typeface="IBM Plex Sans SemiBold" pitchFamily="34" charset="0"/>
                <a:ea typeface="IBM Plex Sans SemiBold" pitchFamily="34" charset="-122"/>
                <a:cs typeface="IBM Plex Sans SemiBold" pitchFamily="34" charset="-120"/>
              </a:rPr>
              <a:t>AI DEV FEST</a:t>
            </a:r>
            <a:endParaRPr lang="en-US" sz="1200" dirty="0"/>
          </a:p>
        </p:txBody>
      </p:sp>
      <p:sp>
        <p:nvSpPr>
          <p:cNvPr id="3" name="Text 1"/>
          <p:cNvSpPr/>
          <p:nvPr/>
        </p:nvSpPr>
        <p:spPr>
          <a:xfrm>
            <a:off x="609585" y="1009253"/>
            <a:ext cx="6527637" cy="2221706"/>
          </a:xfrm>
          <a:prstGeom prst="rect">
            <a:avLst/>
          </a:prstGeom>
          <a:noFill/>
          <a:ln/>
        </p:spPr>
        <p:txBody>
          <a:bodyPr wrap="square" lIns="0" tIns="0" rIns="0" bIns="0" rtlCol="0" anchor="t">
            <a:normAutofit/>
          </a:bodyPr>
          <a:lstStyle/>
          <a:p>
            <a:pPr algn="l" indent="0" marL="0">
              <a:lnSpc>
                <a:spcPct val="90000"/>
              </a:lnSpc>
              <a:buNone/>
            </a:pPr>
            <a:r>
              <a:rPr lang="en-US" sz="5400" spc="-65" kern="100" dirty="0">
                <a:solidFill>
                  <a:srgbClr val="F2ECFF"/>
                </a:solidFill>
                <a:latin typeface="Newsreader SemiBold" pitchFamily="34" charset="0"/>
                <a:ea typeface="Newsreader SemiBold" pitchFamily="34" charset="-122"/>
                <a:cs typeface="Newsreader SemiBold" pitchFamily="34" charset="-120"/>
              </a:rPr>
              <a:t>Shonchoy Copilot:</a:t>
            </a:r>
            <a:endParaRPr lang="en-US" sz="5400" dirty="0"/>
          </a:p>
          <a:p>
            <a:pPr algn="l" indent="0" marL="0">
              <a:lnSpc>
                <a:spcPct val="90000"/>
              </a:lnSpc>
              <a:buNone/>
            </a:pPr>
            <a:r>
              <a:rPr lang="en-US" sz="5400" spc="-65" kern="100" dirty="0">
                <a:solidFill>
                  <a:srgbClr val="F2ECFF"/>
                </a:solidFill>
                <a:latin typeface="Newsreader SemiBold" pitchFamily="34" charset="0"/>
                <a:ea typeface="Newsreader SemiBold" pitchFamily="34" charset="-122"/>
                <a:cs typeface="Newsreader SemiBold" pitchFamily="34" charset="-120"/>
              </a:rPr>
              <a:t>AI for Everyday Money</a:t>
            </a:r>
            <a:endParaRPr lang="en-US" sz="5400" dirty="0"/>
          </a:p>
        </p:txBody>
      </p:sp>
      <p:sp>
        <p:nvSpPr>
          <p:cNvPr id="4" name="Shape 2"/>
          <p:cNvSpPr/>
          <p:nvPr/>
        </p:nvSpPr>
        <p:spPr>
          <a:xfrm>
            <a:off x="609585" y="3516709"/>
            <a:ext cx="2153985" cy="76200"/>
          </a:xfrm>
          <a:prstGeom prst="roundRect">
            <a:avLst>
              <a:gd name="adj" fmla="val 49999"/>
            </a:avLst>
          </a:prstGeom>
          <a:solidFill>
            <a:srgbClr val="4F8EF7"/>
          </a:solidFill>
          <a:ln/>
        </p:spPr>
      </p:sp>
      <p:sp>
        <p:nvSpPr>
          <p:cNvPr id="5" name="Text 3"/>
          <p:cNvSpPr/>
          <p:nvPr/>
        </p:nvSpPr>
        <p:spPr>
          <a:xfrm>
            <a:off x="609585" y="3856434"/>
            <a:ext cx="6705432" cy="373360"/>
          </a:xfrm>
          <a:prstGeom prst="rect">
            <a:avLst/>
          </a:prstGeom>
          <a:noFill/>
          <a:ln/>
        </p:spPr>
        <p:txBody>
          <a:bodyPr wrap="none" lIns="0" tIns="0" rIns="0" bIns="0" rtlCol="0" anchor="t"/>
          <a:lstStyle/>
          <a:p>
            <a:pPr algn="l" indent="0" marL="0">
              <a:lnSpc>
                <a:spcPct val="117000"/>
              </a:lnSpc>
              <a:buNone/>
            </a:pPr>
            <a:r>
              <a:rPr lang="en-US" sz="2100" dirty="0">
                <a:solidFill>
                  <a:srgbClr val="F2ECFF"/>
                </a:solidFill>
                <a:latin typeface="IBM Plex Sans" pitchFamily="34" charset="0"/>
                <a:ea typeface="IBM Plex Sans" pitchFamily="34" charset="-122"/>
                <a:cs typeface="IBM Plex Sans" pitchFamily="34" charset="-120"/>
              </a:rPr>
              <a:t>Team Polaris</a:t>
            </a:r>
            <a:endParaRPr lang="en-US" sz="2100" dirty="0"/>
          </a:p>
        </p:txBody>
      </p:sp>
      <p:sp>
        <p:nvSpPr>
          <p:cNvPr id="6" name="Text 4"/>
          <p:cNvSpPr/>
          <p:nvPr/>
        </p:nvSpPr>
        <p:spPr>
          <a:xfrm>
            <a:off x="609585" y="4436170"/>
            <a:ext cx="6527637"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2ECFF"/>
                </a:solidFill>
                <a:latin typeface="IBM Plex Sans" pitchFamily="34" charset="0"/>
                <a:ea typeface="IBM Plex Sans" pitchFamily="34" charset="-122"/>
                <a:cs typeface="IBM Plex Sans" pitchFamily="34" charset="-120"/>
              </a:rPr>
              <a:t>Soumitra Saha</a:t>
            </a:r>
            <a:endParaRPr lang="en-US" sz="1800" dirty="0"/>
          </a:p>
          <a:p>
            <a:pPr algn="l" indent="0" marL="0">
              <a:lnSpc>
                <a:spcPct val="117000"/>
              </a:lnSpc>
              <a:buNone/>
            </a:pPr>
            <a:r>
              <a:rPr lang="en-US" sz="1800" dirty="0">
                <a:solidFill>
                  <a:srgbClr val="F2ECFF"/>
                </a:solidFill>
                <a:latin typeface="IBM Plex Sans" pitchFamily="34" charset="0"/>
                <a:ea typeface="IBM Plex Sans" pitchFamily="34" charset="-122"/>
                <a:cs typeface="IBM Plex Sans" pitchFamily="34" charset="-120"/>
              </a:rPr>
              <a:t>Dipta Kumar Das</a:t>
            </a:r>
            <a:endParaRPr lang="en-US" sz="1800" dirty="0"/>
          </a:p>
          <a:p>
            <a:pPr algn="l" indent="0" marL="0">
              <a:lnSpc>
                <a:spcPct val="117000"/>
              </a:lnSpc>
              <a:buNone/>
            </a:pPr>
            <a:r>
              <a:rPr lang="en-US" sz="1800" dirty="0">
                <a:solidFill>
                  <a:srgbClr val="F2ECFF"/>
                </a:solidFill>
                <a:latin typeface="IBM Plex Sans" pitchFamily="34" charset="0"/>
                <a:ea typeface="IBM Plex Sans" pitchFamily="34" charset="-122"/>
                <a:cs typeface="IBM Plex Sans" pitchFamily="34" charset="-120"/>
              </a:rPr>
              <a:t>K.M. Taskif Bin Parves</a:t>
            </a:r>
            <a:endParaRPr lang="en-US" sz="1800" dirty="0"/>
          </a:p>
        </p:txBody>
      </p:sp>
      <p:sp>
        <p:nvSpPr>
          <p:cNvPr id="7" name="Text 5"/>
          <p:cNvSpPr/>
          <p:nvPr/>
        </p:nvSpPr>
        <p:spPr>
          <a:xfrm>
            <a:off x="609585" y="5602486"/>
            <a:ext cx="6527637" cy="429220"/>
          </a:xfrm>
          <a:prstGeom prst="rect">
            <a:avLst/>
          </a:prstGeom>
          <a:noFill/>
          <a:ln/>
        </p:spPr>
        <p:txBody>
          <a:bodyPr wrap="square" lIns="0" tIns="0" rIns="0" bIns="0" rtlCol="0" anchor="t">
            <a:normAutofit/>
          </a:bodyPr>
          <a:lstStyle/>
          <a:p>
            <a:pPr algn="l" indent="0" marL="0">
              <a:lnSpc>
                <a:spcPct val="108000"/>
              </a:lnSpc>
              <a:buNone/>
            </a:pPr>
            <a:r>
              <a:rPr lang="en-US" sz="1300" spc="13" kern="100" dirty="0">
                <a:solidFill>
                  <a:srgbClr val="B9B3D6"/>
                </a:solidFill>
                <a:latin typeface="IBM Plex Sans" pitchFamily="34" charset="0"/>
                <a:ea typeface="IBM Plex Sans" pitchFamily="34" charset="-122"/>
                <a:cs typeface="IBM Plex Sans" pitchFamily="34" charset="-120"/>
              </a:rPr>
              <a:t>Daffodil International University</a:t>
            </a:r>
            <a:endParaRPr lang="en-US" sz="1300" dirty="0"/>
          </a:p>
          <a:p>
            <a:pPr algn="l" indent="0" marL="0">
              <a:lnSpc>
                <a:spcPct val="108000"/>
              </a:lnSpc>
              <a:buNone/>
            </a:pPr>
            <a:r>
              <a:rPr lang="en-US" sz="1300" spc="13" kern="100" dirty="0">
                <a:solidFill>
                  <a:srgbClr val="B9B3D6"/>
                </a:solidFill>
                <a:latin typeface="IBM Plex Sans" pitchFamily="34" charset="0"/>
                <a:ea typeface="IBM Plex Sans" pitchFamily="34" charset="-122"/>
                <a:cs typeface="IBM Plex Sans" pitchFamily="34" charset="-120"/>
              </a:rPr>
              <a:t>04 October 2026</a:t>
            </a:r>
            <a:endParaRPr lang="en-US" sz="1300" dirty="0"/>
          </a:p>
        </p:txBody>
      </p:sp>
      <p:pic>
        <p:nvPicPr>
          <p:cNvPr id="8" name="Image 0" descr="preencoded.png">    </p:cNvPr>
          <p:cNvPicPr>
            <a:picLocks noChangeAspect="1"/>
          </p:cNvPicPr>
          <p:nvPr/>
        </p:nvPicPr>
        <p:blipFill>
          <a:blip r:embed="rId1"/>
          <a:stretch>
            <a:fillRect/>
          </a:stretch>
        </p:blipFill>
        <p:spPr>
          <a:xfrm>
            <a:off x="7315017" y="558800"/>
            <a:ext cx="4876678" cy="5918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44" kern="100" dirty="0">
                <a:solidFill>
                  <a:srgbClr val="F2ECFF"/>
                </a:solidFill>
                <a:latin typeface="IBM Plex Sans SemiBold" pitchFamily="34" charset="0"/>
                <a:ea typeface="IBM Plex Sans SemiBold" pitchFamily="34" charset="-122"/>
                <a:cs typeface="IBM Plex Sans SemiBold" pitchFamily="34" charset="-120"/>
              </a:rPr>
              <a:t>THE PROBLEM</a:t>
            </a:r>
            <a:endParaRPr lang="en-US" sz="1200" dirty="0"/>
          </a:p>
        </p:txBody>
      </p:sp>
      <p:sp>
        <p:nvSpPr>
          <p:cNvPr id="3" name="Shape 1"/>
          <p:cNvSpPr/>
          <p:nvPr/>
        </p:nvSpPr>
        <p:spPr>
          <a:xfrm>
            <a:off x="609585" y="1054398"/>
            <a:ext cx="10972526" cy="31651"/>
          </a:xfrm>
          <a:prstGeom prst="roundRect">
            <a:avLst>
              <a:gd name="adj" fmla="val 49998"/>
            </a:avLst>
          </a:prstGeom>
          <a:solidFill>
            <a:srgbClr val="3E3A66"/>
          </a:solidFill>
          <a:ln/>
        </p:spPr>
      </p:sp>
      <p:sp>
        <p:nvSpPr>
          <p:cNvPr id="4" name="Text 2"/>
          <p:cNvSpPr/>
          <p:nvPr/>
        </p:nvSpPr>
        <p:spPr>
          <a:xfrm>
            <a:off x="609585" y="2317552"/>
            <a:ext cx="10972526" cy="740569"/>
          </a:xfrm>
          <a:prstGeom prst="rect">
            <a:avLst/>
          </a:prstGeom>
          <a:noFill/>
          <a:ln/>
        </p:spPr>
        <p:txBody>
          <a:bodyPr wrap="none" lIns="0" tIns="0" rIns="0" bIns="0" rtlCol="0" anchor="t"/>
          <a:lstStyle/>
          <a:p>
            <a:pPr algn="l" indent="0" marL="0">
              <a:lnSpc>
                <a:spcPct val="90000"/>
              </a:lnSpc>
              <a:buNone/>
            </a:pPr>
            <a:r>
              <a:rPr lang="en-US" sz="5400" spc="-65" kern="100" dirty="0">
                <a:solidFill>
                  <a:srgbClr val="F2ECFF"/>
                </a:solidFill>
                <a:latin typeface="Newsreader SemiBold" pitchFamily="34" charset="0"/>
                <a:ea typeface="Newsreader SemiBold" pitchFamily="34" charset="-122"/>
                <a:cs typeface="Newsreader SemiBold" pitchFamily="34" charset="-120"/>
              </a:rPr>
              <a:t>Where did this month's money go?</a:t>
            </a:r>
            <a:endParaRPr lang="en-US" sz="5400" dirty="0"/>
          </a:p>
        </p:txBody>
      </p:sp>
      <p:sp>
        <p:nvSpPr>
          <p:cNvPr id="5" name="Text 3"/>
          <p:cNvSpPr/>
          <p:nvPr/>
        </p:nvSpPr>
        <p:spPr>
          <a:xfrm>
            <a:off x="609585" y="3286720"/>
            <a:ext cx="7010225" cy="889000"/>
          </a:xfrm>
          <a:prstGeom prst="rect">
            <a:avLst/>
          </a:prstGeom>
          <a:noFill/>
          <a:ln/>
        </p:spPr>
        <p:txBody>
          <a:bodyPr wrap="square" lIns="0" tIns="0" rIns="0" bIns="0" rtlCol="0" anchor="t">
            <a:normAutofit/>
          </a:bodyPr>
          <a:lstStyle/>
          <a:p>
            <a:pPr algn="l" indent="0" marL="0">
              <a:lnSpc>
                <a:spcPct val="104000"/>
              </a:lnSpc>
              <a:buNone/>
            </a:pPr>
            <a:r>
              <a:rPr lang="en-US" sz="2800" i="1" dirty="0">
                <a:solidFill>
                  <a:srgbClr val="F2ECFF"/>
                </a:solidFill>
                <a:latin typeface="Newsreader" pitchFamily="34" charset="0"/>
                <a:ea typeface="Newsreader" pitchFamily="34" charset="-122"/>
                <a:cs typeface="Newsreader" pitchFamily="34" charset="-120"/>
              </a:rPr>
              <a:t>A small shop in Bangladesh cannot answer quickly. That gap costs savings every month.</a:t>
            </a:r>
            <a:endParaRPr lang="en-US" sz="2800" dirty="0"/>
          </a:p>
        </p:txBody>
      </p:sp>
      <p:pic>
        <p:nvPicPr>
          <p:cNvPr id="6" name="Image 0" descr="preencoded.png">    </p:cNvPr>
          <p:cNvPicPr>
            <a:picLocks noChangeAspect="1"/>
          </p:cNvPicPr>
          <p:nvPr/>
        </p:nvPicPr>
        <p:blipFill>
          <a:blip r:embed="rId1"/>
          <a:stretch>
            <a:fillRect/>
          </a:stretch>
        </p:blipFill>
        <p:spPr>
          <a:xfrm>
            <a:off x="8076998" y="3286720"/>
            <a:ext cx="3174921" cy="17859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44" kern="100" dirty="0">
                <a:solidFill>
                  <a:srgbClr val="F2ECFF"/>
                </a:solidFill>
                <a:latin typeface="IBM Plex Sans SemiBold" pitchFamily="34" charset="0"/>
                <a:ea typeface="IBM Plex Sans SemiBold" pitchFamily="34" charset="-122"/>
                <a:cs typeface="IBM Plex Sans SemiBold" pitchFamily="34" charset="-120"/>
              </a:rPr>
              <a:t>THE ROUTE</a:t>
            </a:r>
            <a:endParaRPr lang="en-US" sz="1200" dirty="0"/>
          </a:p>
        </p:txBody>
      </p:sp>
      <p:sp>
        <p:nvSpPr>
          <p:cNvPr id="3" name="Shape 1"/>
          <p:cNvSpPr/>
          <p:nvPr/>
        </p:nvSpPr>
        <p:spPr>
          <a:xfrm>
            <a:off x="609585" y="1054398"/>
            <a:ext cx="10972526" cy="31651"/>
          </a:xfrm>
          <a:prstGeom prst="roundRect">
            <a:avLst>
              <a:gd name="adj" fmla="val 49998"/>
            </a:avLst>
          </a:prstGeom>
          <a:solidFill>
            <a:srgbClr val="3E3A66"/>
          </a:solidFill>
          <a:ln/>
        </p:spPr>
      </p:sp>
      <p:sp>
        <p:nvSpPr>
          <p:cNvPr id="4" name="Text 2"/>
          <p:cNvSpPr/>
          <p:nvPr/>
        </p:nvSpPr>
        <p:spPr>
          <a:xfrm>
            <a:off x="609585" y="1535410"/>
            <a:ext cx="10972526" cy="576064"/>
          </a:xfrm>
          <a:prstGeom prst="rect">
            <a:avLst/>
          </a:prstGeom>
          <a:noFill/>
          <a:ln/>
        </p:spPr>
        <p:txBody>
          <a:bodyPr wrap="none" lIns="0" tIns="0" rIns="0" bIns="0" rtlCol="0" anchor="t"/>
          <a:lstStyle/>
          <a:p>
            <a:pPr algn="l" indent="0" marL="0">
              <a:lnSpc>
                <a:spcPct val="90000"/>
              </a:lnSpc>
              <a:buNone/>
            </a:pPr>
            <a:r>
              <a:rPr lang="en-US" sz="4200" spc="-50" kern="100" dirty="0">
                <a:solidFill>
                  <a:srgbClr val="F2ECFF"/>
                </a:solidFill>
                <a:latin typeface="Newsreader SemiBold" pitchFamily="34" charset="0"/>
                <a:ea typeface="Newsreader SemiBold" pitchFamily="34" charset="-122"/>
                <a:cs typeface="Newsreader SemiBold" pitchFamily="34" charset="-120"/>
              </a:rPr>
              <a:t>Today's roadmap</a:t>
            </a:r>
            <a:endParaRPr lang="en-US" sz="4200" dirty="0"/>
          </a:p>
        </p:txBody>
      </p:sp>
      <p:sp>
        <p:nvSpPr>
          <p:cNvPr id="5" name="Text 3"/>
          <p:cNvSpPr/>
          <p:nvPr/>
        </p:nvSpPr>
        <p:spPr>
          <a:xfrm>
            <a:off x="609585" y="2498824"/>
            <a:ext cx="749281" cy="228600"/>
          </a:xfrm>
          <a:prstGeom prst="rect">
            <a:avLst/>
          </a:prstGeom>
          <a:noFill/>
          <a:ln/>
        </p:spPr>
        <p:txBody>
          <a:bodyPr wrap="none" lIns="0" tIns="0" rIns="0" bIns="0" rtlCol="0" anchor="t"/>
          <a:lstStyle/>
          <a:p>
            <a:pPr algn="l" indent="0" marL="0">
              <a:lnSpc>
                <a:spcPct val="83000"/>
              </a:lnSpc>
              <a:buNone/>
            </a:pPr>
            <a:r>
              <a:rPr lang="en-US" sz="1800" i="1" dirty="0">
                <a:solidFill>
                  <a:srgbClr val="4F8EF7"/>
                </a:solidFill>
                <a:latin typeface="Newsreader SemiBold" pitchFamily="34" charset="0"/>
                <a:ea typeface="Newsreader SemiBold" pitchFamily="34" charset="-122"/>
                <a:cs typeface="Newsreader SemiBold" pitchFamily="34" charset="-120"/>
              </a:rPr>
              <a:t>1</a:t>
            </a:r>
            <a:endParaRPr lang="en-US" sz="1800" dirty="0"/>
          </a:p>
        </p:txBody>
      </p:sp>
      <p:sp>
        <p:nvSpPr>
          <p:cNvPr id="6" name="Text 4"/>
          <p:cNvSpPr/>
          <p:nvPr/>
        </p:nvSpPr>
        <p:spPr>
          <a:xfrm>
            <a:off x="977876" y="2340074"/>
            <a:ext cx="10604235" cy="426641"/>
          </a:xfrm>
          <a:prstGeom prst="rect">
            <a:avLst/>
          </a:prstGeom>
          <a:noFill/>
          <a:ln/>
        </p:spPr>
        <p:txBody>
          <a:bodyPr wrap="none" lIns="0" tIns="0" rIns="0" bIns="0" rtlCol="0" anchor="t"/>
          <a:lstStyle/>
          <a:p>
            <a:pPr algn="l" indent="0" marL="0">
              <a:lnSpc>
                <a:spcPct val="117000"/>
              </a:lnSpc>
              <a:buNone/>
            </a:pPr>
            <a:r>
              <a:rPr lang="en-US" sz="2400" dirty="0">
                <a:solidFill>
                  <a:srgbClr val="F2ECFF"/>
                </a:solidFill>
                <a:latin typeface="IBM Plex Sans" pitchFamily="34" charset="0"/>
                <a:ea typeface="IBM Plex Sans" pitchFamily="34" charset="-122"/>
                <a:cs typeface="IBM Plex Sans" pitchFamily="34" charset="-120"/>
              </a:rPr>
              <a:t>The problem</a:t>
            </a:r>
            <a:endParaRPr lang="en-US" sz="2400" dirty="0"/>
          </a:p>
        </p:txBody>
      </p:sp>
      <p:sp>
        <p:nvSpPr>
          <p:cNvPr id="7" name="Text 5"/>
          <p:cNvSpPr/>
          <p:nvPr/>
        </p:nvSpPr>
        <p:spPr>
          <a:xfrm>
            <a:off x="609585" y="3382665"/>
            <a:ext cx="749281" cy="228600"/>
          </a:xfrm>
          <a:prstGeom prst="rect">
            <a:avLst/>
          </a:prstGeom>
          <a:noFill/>
          <a:ln/>
        </p:spPr>
        <p:txBody>
          <a:bodyPr wrap="none" lIns="0" tIns="0" rIns="0" bIns="0" rtlCol="0" anchor="t"/>
          <a:lstStyle/>
          <a:p>
            <a:pPr algn="l" indent="0" marL="0">
              <a:lnSpc>
                <a:spcPct val="83000"/>
              </a:lnSpc>
              <a:buNone/>
            </a:pPr>
            <a:r>
              <a:rPr lang="en-US" sz="1800" i="1" dirty="0">
                <a:solidFill>
                  <a:srgbClr val="4F8EF7"/>
                </a:solidFill>
                <a:latin typeface="Newsreader SemiBold" pitchFamily="34" charset="0"/>
                <a:ea typeface="Newsreader SemiBold" pitchFamily="34" charset="-122"/>
                <a:cs typeface="Newsreader SemiBold" pitchFamily="34" charset="-120"/>
              </a:rPr>
              <a:t>2</a:t>
            </a:r>
            <a:endParaRPr lang="en-US" sz="1800" dirty="0"/>
          </a:p>
        </p:txBody>
      </p:sp>
      <p:sp>
        <p:nvSpPr>
          <p:cNvPr id="8" name="Text 6"/>
          <p:cNvSpPr/>
          <p:nvPr/>
        </p:nvSpPr>
        <p:spPr>
          <a:xfrm>
            <a:off x="977876" y="3223915"/>
            <a:ext cx="10604235" cy="426641"/>
          </a:xfrm>
          <a:prstGeom prst="rect">
            <a:avLst/>
          </a:prstGeom>
          <a:noFill/>
          <a:ln/>
        </p:spPr>
        <p:txBody>
          <a:bodyPr wrap="none" lIns="0" tIns="0" rIns="0" bIns="0" rtlCol="0" anchor="t"/>
          <a:lstStyle/>
          <a:p>
            <a:pPr algn="l" indent="0" marL="0">
              <a:lnSpc>
                <a:spcPct val="117000"/>
              </a:lnSpc>
              <a:buNone/>
            </a:pPr>
            <a:r>
              <a:rPr lang="en-US" sz="2400" dirty="0">
                <a:solidFill>
                  <a:srgbClr val="F2ECFF"/>
                </a:solidFill>
                <a:latin typeface="IBM Plex Sans" pitchFamily="34" charset="0"/>
                <a:ea typeface="IBM Plex Sans" pitchFamily="34" charset="-122"/>
                <a:cs typeface="IBM Plex Sans" pitchFamily="34" charset="-120"/>
              </a:rPr>
              <a:t>How the copilot thinks</a:t>
            </a:r>
            <a:endParaRPr lang="en-US" sz="2400" dirty="0"/>
          </a:p>
        </p:txBody>
      </p:sp>
      <p:sp>
        <p:nvSpPr>
          <p:cNvPr id="9" name="Text 7"/>
          <p:cNvSpPr/>
          <p:nvPr/>
        </p:nvSpPr>
        <p:spPr>
          <a:xfrm>
            <a:off x="609585" y="4266505"/>
            <a:ext cx="749281" cy="228600"/>
          </a:xfrm>
          <a:prstGeom prst="rect">
            <a:avLst/>
          </a:prstGeom>
          <a:noFill/>
          <a:ln/>
        </p:spPr>
        <p:txBody>
          <a:bodyPr wrap="none" lIns="0" tIns="0" rIns="0" bIns="0" rtlCol="0" anchor="t"/>
          <a:lstStyle/>
          <a:p>
            <a:pPr algn="l" indent="0" marL="0">
              <a:lnSpc>
                <a:spcPct val="83000"/>
              </a:lnSpc>
              <a:buNone/>
            </a:pPr>
            <a:r>
              <a:rPr lang="en-US" sz="1800" i="1" dirty="0">
                <a:solidFill>
                  <a:srgbClr val="4F8EF7"/>
                </a:solidFill>
                <a:latin typeface="Newsreader SemiBold" pitchFamily="34" charset="0"/>
                <a:ea typeface="Newsreader SemiBold" pitchFamily="34" charset="-122"/>
                <a:cs typeface="Newsreader SemiBold" pitchFamily="34" charset="-120"/>
              </a:rPr>
              <a:t>3</a:t>
            </a:r>
            <a:endParaRPr lang="en-US" sz="1800" dirty="0"/>
          </a:p>
        </p:txBody>
      </p:sp>
      <p:sp>
        <p:nvSpPr>
          <p:cNvPr id="10" name="Text 8"/>
          <p:cNvSpPr/>
          <p:nvPr/>
        </p:nvSpPr>
        <p:spPr>
          <a:xfrm>
            <a:off x="977876" y="4107755"/>
            <a:ext cx="10604235" cy="426641"/>
          </a:xfrm>
          <a:prstGeom prst="rect">
            <a:avLst/>
          </a:prstGeom>
          <a:noFill/>
          <a:ln/>
        </p:spPr>
        <p:txBody>
          <a:bodyPr wrap="none" lIns="0" tIns="0" rIns="0" bIns="0" rtlCol="0" anchor="t"/>
          <a:lstStyle/>
          <a:p>
            <a:pPr algn="l" indent="0" marL="0">
              <a:lnSpc>
                <a:spcPct val="117000"/>
              </a:lnSpc>
              <a:buNone/>
            </a:pPr>
            <a:r>
              <a:rPr lang="en-US" sz="2400" dirty="0">
                <a:solidFill>
                  <a:srgbClr val="F2ECFF"/>
                </a:solidFill>
                <a:latin typeface="IBM Plex Sans" pitchFamily="34" charset="0"/>
                <a:ea typeface="IBM Plex Sans" pitchFamily="34" charset="-122"/>
                <a:cs typeface="IBM Plex Sans" pitchFamily="34" charset="-120"/>
              </a:rPr>
              <a:t>Demo</a:t>
            </a:r>
            <a:endParaRPr lang="en-US" sz="2400" dirty="0"/>
          </a:p>
        </p:txBody>
      </p:sp>
      <p:sp>
        <p:nvSpPr>
          <p:cNvPr id="11" name="Text 9"/>
          <p:cNvSpPr/>
          <p:nvPr/>
        </p:nvSpPr>
        <p:spPr>
          <a:xfrm>
            <a:off x="609585" y="5150346"/>
            <a:ext cx="749281" cy="228600"/>
          </a:xfrm>
          <a:prstGeom prst="rect">
            <a:avLst/>
          </a:prstGeom>
          <a:noFill/>
          <a:ln/>
        </p:spPr>
        <p:txBody>
          <a:bodyPr wrap="none" lIns="0" tIns="0" rIns="0" bIns="0" rtlCol="0" anchor="t"/>
          <a:lstStyle/>
          <a:p>
            <a:pPr algn="l" indent="0" marL="0">
              <a:lnSpc>
                <a:spcPct val="83000"/>
              </a:lnSpc>
              <a:buNone/>
            </a:pPr>
            <a:r>
              <a:rPr lang="en-US" sz="1800" i="1" dirty="0">
                <a:solidFill>
                  <a:srgbClr val="4F8EF7"/>
                </a:solidFill>
                <a:latin typeface="Newsreader SemiBold" pitchFamily="34" charset="0"/>
                <a:ea typeface="Newsreader SemiBold" pitchFamily="34" charset="-122"/>
                <a:cs typeface="Newsreader SemiBold" pitchFamily="34" charset="-120"/>
              </a:rPr>
              <a:t>4</a:t>
            </a:r>
            <a:endParaRPr lang="en-US" sz="1800" dirty="0"/>
          </a:p>
        </p:txBody>
      </p:sp>
      <p:sp>
        <p:nvSpPr>
          <p:cNvPr id="12" name="Text 10"/>
          <p:cNvSpPr/>
          <p:nvPr/>
        </p:nvSpPr>
        <p:spPr>
          <a:xfrm>
            <a:off x="977876" y="4991596"/>
            <a:ext cx="10604235" cy="426641"/>
          </a:xfrm>
          <a:prstGeom prst="rect">
            <a:avLst/>
          </a:prstGeom>
          <a:noFill/>
          <a:ln/>
        </p:spPr>
        <p:txBody>
          <a:bodyPr wrap="none" lIns="0" tIns="0" rIns="0" bIns="0" rtlCol="0" anchor="t"/>
          <a:lstStyle/>
          <a:p>
            <a:pPr algn="l" indent="0" marL="0">
              <a:lnSpc>
                <a:spcPct val="117000"/>
              </a:lnSpc>
              <a:buNone/>
            </a:pPr>
            <a:r>
              <a:rPr lang="en-US" sz="2400" dirty="0">
                <a:solidFill>
                  <a:srgbClr val="F2ECFF"/>
                </a:solidFill>
                <a:latin typeface="IBM Plex Sans" pitchFamily="34" charset="0"/>
                <a:ea typeface="IBM Plex Sans" pitchFamily="34" charset="-122"/>
                <a:cs typeface="IBM Plex Sans" pitchFamily="34" charset="-120"/>
              </a:rPr>
              <a:t>Impact</a:t>
            </a:r>
            <a:endParaRPr lang="en-US" sz="2400" dirty="0"/>
          </a:p>
        </p:txBody>
      </p:sp>
      <p:sp>
        <p:nvSpPr>
          <p:cNvPr id="13" name="Text 11"/>
          <p:cNvSpPr/>
          <p:nvPr/>
        </p:nvSpPr>
        <p:spPr>
          <a:xfrm>
            <a:off x="609585" y="6034187"/>
            <a:ext cx="749281" cy="228600"/>
          </a:xfrm>
          <a:prstGeom prst="rect">
            <a:avLst/>
          </a:prstGeom>
          <a:noFill/>
          <a:ln/>
        </p:spPr>
        <p:txBody>
          <a:bodyPr wrap="none" lIns="0" tIns="0" rIns="0" bIns="0" rtlCol="0" anchor="t"/>
          <a:lstStyle/>
          <a:p>
            <a:pPr algn="l" indent="0" marL="0">
              <a:lnSpc>
                <a:spcPct val="83000"/>
              </a:lnSpc>
              <a:buNone/>
            </a:pPr>
            <a:r>
              <a:rPr lang="en-US" sz="1800" i="1" dirty="0">
                <a:solidFill>
                  <a:srgbClr val="4F8EF7"/>
                </a:solidFill>
                <a:latin typeface="Newsreader SemiBold" pitchFamily="34" charset="0"/>
                <a:ea typeface="Newsreader SemiBold" pitchFamily="34" charset="-122"/>
                <a:cs typeface="Newsreader SemiBold" pitchFamily="34" charset="-120"/>
              </a:rPr>
              <a:t>5</a:t>
            </a:r>
            <a:endParaRPr lang="en-US" sz="1800" dirty="0"/>
          </a:p>
        </p:txBody>
      </p:sp>
      <p:sp>
        <p:nvSpPr>
          <p:cNvPr id="14" name="Text 12"/>
          <p:cNvSpPr/>
          <p:nvPr/>
        </p:nvSpPr>
        <p:spPr>
          <a:xfrm>
            <a:off x="977876" y="5875437"/>
            <a:ext cx="10604235" cy="426641"/>
          </a:xfrm>
          <a:prstGeom prst="rect">
            <a:avLst/>
          </a:prstGeom>
          <a:noFill/>
          <a:ln/>
        </p:spPr>
        <p:txBody>
          <a:bodyPr wrap="none" lIns="0" tIns="0" rIns="0" bIns="0" rtlCol="0" anchor="t"/>
          <a:lstStyle/>
          <a:p>
            <a:pPr algn="l" indent="0" marL="0">
              <a:lnSpc>
                <a:spcPct val="117000"/>
              </a:lnSpc>
              <a:buNone/>
            </a:pPr>
            <a:r>
              <a:rPr lang="en-US" sz="2400" dirty="0">
                <a:solidFill>
                  <a:srgbClr val="F2ECFF"/>
                </a:solidFill>
                <a:latin typeface="IBM Plex Sans" pitchFamily="34" charset="0"/>
                <a:ea typeface="IBM Plex Sans" pitchFamily="34" charset="-122"/>
                <a:cs typeface="IBM Plex Sans" pitchFamily="34" charset="-120"/>
              </a:rPr>
              <a:t>Takeaways</a:t>
            </a:r>
            <a:endParaRPr lang="en-US" sz="2400" dirty="0"/>
          </a:p>
        </p:txBody>
      </p:sp>
      <p:sp>
        <p:nvSpPr>
          <p:cNvPr id="15" name="Shape 13"/>
          <p:cNvSpPr/>
          <p:nvPr/>
        </p:nvSpPr>
        <p:spPr>
          <a:xfrm>
            <a:off x="609585" y="2988965"/>
            <a:ext cx="10972526" cy="12700"/>
          </a:xfrm>
          <a:prstGeom prst="rect">
            <a:avLst/>
          </a:prstGeom>
          <a:solidFill>
            <a:srgbClr val="808080">
              <a:alpha val="35000"/>
            </a:srgbClr>
          </a:solidFill>
          <a:ln/>
        </p:spPr>
      </p:sp>
      <p:sp>
        <p:nvSpPr>
          <p:cNvPr id="16" name="Shape 14"/>
          <p:cNvSpPr/>
          <p:nvPr/>
        </p:nvSpPr>
        <p:spPr>
          <a:xfrm>
            <a:off x="609585" y="3872805"/>
            <a:ext cx="10972526" cy="12700"/>
          </a:xfrm>
          <a:prstGeom prst="rect">
            <a:avLst/>
          </a:prstGeom>
          <a:solidFill>
            <a:srgbClr val="808080">
              <a:alpha val="35000"/>
            </a:srgbClr>
          </a:solidFill>
          <a:ln/>
        </p:spPr>
      </p:sp>
      <p:sp>
        <p:nvSpPr>
          <p:cNvPr id="17" name="Shape 15"/>
          <p:cNvSpPr/>
          <p:nvPr/>
        </p:nvSpPr>
        <p:spPr>
          <a:xfrm>
            <a:off x="609585" y="4756646"/>
            <a:ext cx="10972526" cy="12700"/>
          </a:xfrm>
          <a:prstGeom prst="rect">
            <a:avLst/>
          </a:prstGeom>
          <a:solidFill>
            <a:srgbClr val="808080">
              <a:alpha val="35000"/>
            </a:srgbClr>
          </a:solidFill>
          <a:ln/>
        </p:spPr>
      </p:sp>
      <p:sp>
        <p:nvSpPr>
          <p:cNvPr id="18" name="Shape 16"/>
          <p:cNvSpPr/>
          <p:nvPr/>
        </p:nvSpPr>
        <p:spPr>
          <a:xfrm>
            <a:off x="609585" y="5640487"/>
            <a:ext cx="10972526" cy="12700"/>
          </a:xfrm>
          <a:prstGeom prst="rect">
            <a:avLst/>
          </a:prstGeom>
          <a:solidFill>
            <a:srgbClr val="808080">
              <a:alpha val="35000"/>
            </a:srgbClr>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558800"/>
            <a:ext cx="4876678" cy="5918200"/>
          </a:xfrm>
          <a:prstGeom prst="rect">
            <a:avLst/>
          </a:prstGeom>
        </p:spPr>
      </p:pic>
      <p:sp>
        <p:nvSpPr>
          <p:cNvPr id="3" name="Text 0"/>
          <p:cNvSpPr/>
          <p:nvPr/>
        </p:nvSpPr>
        <p:spPr>
          <a:xfrm>
            <a:off x="5486263" y="609600"/>
            <a:ext cx="6705432" cy="182860"/>
          </a:xfrm>
          <a:prstGeom prst="rect">
            <a:avLst/>
          </a:prstGeom>
          <a:noFill/>
          <a:ln/>
        </p:spPr>
        <p:txBody>
          <a:bodyPr wrap="none" lIns="0" tIns="0" rIns="0" bIns="0" rtlCol="0" anchor="t"/>
          <a:lstStyle/>
          <a:p>
            <a:pPr algn="l" indent="0" marL="0">
              <a:lnSpc>
                <a:spcPct val="100000"/>
              </a:lnSpc>
              <a:buNone/>
            </a:pPr>
            <a:r>
              <a:rPr lang="en-US" sz="1200" spc="144" kern="100" dirty="0">
                <a:solidFill>
                  <a:srgbClr val="F2ECFF"/>
                </a:solidFill>
                <a:latin typeface="IBM Plex Sans SemiBold" pitchFamily="34" charset="0"/>
                <a:ea typeface="IBM Plex Sans SemiBold" pitchFamily="34" charset="-122"/>
                <a:cs typeface="IBM Plex Sans SemiBold" pitchFamily="34" charset="-120"/>
              </a:rPr>
              <a:t>EVERYDAY REALITY</a:t>
            </a:r>
            <a:endParaRPr lang="en-US" sz="1200" dirty="0"/>
          </a:p>
        </p:txBody>
      </p:sp>
      <p:sp>
        <p:nvSpPr>
          <p:cNvPr id="4" name="Shape 1"/>
          <p:cNvSpPr/>
          <p:nvPr/>
        </p:nvSpPr>
        <p:spPr>
          <a:xfrm>
            <a:off x="5486263" y="1054398"/>
            <a:ext cx="6095848" cy="31651"/>
          </a:xfrm>
          <a:prstGeom prst="roundRect">
            <a:avLst>
              <a:gd name="adj" fmla="val 49998"/>
            </a:avLst>
          </a:prstGeom>
          <a:solidFill>
            <a:srgbClr val="3E3A66"/>
          </a:solidFill>
          <a:ln/>
        </p:spPr>
      </p:sp>
      <p:sp>
        <p:nvSpPr>
          <p:cNvPr id="5" name="Text 2"/>
          <p:cNvSpPr/>
          <p:nvPr/>
        </p:nvSpPr>
        <p:spPr>
          <a:xfrm>
            <a:off x="5486263" y="1948160"/>
            <a:ext cx="6095848" cy="1316633"/>
          </a:xfrm>
          <a:prstGeom prst="rect">
            <a:avLst/>
          </a:prstGeom>
          <a:noFill/>
          <a:ln/>
        </p:spPr>
        <p:txBody>
          <a:bodyPr wrap="square" lIns="0" tIns="0" rIns="0" bIns="0" rtlCol="0" anchor="t">
            <a:normAutofit/>
          </a:bodyPr>
          <a:lstStyle/>
          <a:p>
            <a:pPr algn="l" indent="0" marL="0">
              <a:lnSpc>
                <a:spcPct val="90000"/>
              </a:lnSpc>
              <a:buNone/>
            </a:pPr>
            <a:r>
              <a:rPr lang="en-US" sz="4800" spc="-58" kern="100" dirty="0">
                <a:solidFill>
                  <a:srgbClr val="F2ECFF"/>
                </a:solidFill>
                <a:latin typeface="Newsreader SemiBold" pitchFamily="34" charset="0"/>
                <a:ea typeface="Newsreader SemiBold" pitchFamily="34" charset="-122"/>
                <a:cs typeface="Newsreader SemiBold" pitchFamily="34" charset="-120"/>
              </a:rPr>
              <a:t>Small shops run on memory</a:t>
            </a:r>
            <a:endParaRPr lang="en-US" sz="4800" dirty="0"/>
          </a:p>
        </p:txBody>
      </p:sp>
      <p:sp>
        <p:nvSpPr>
          <p:cNvPr id="6" name="Text 3"/>
          <p:cNvSpPr/>
          <p:nvPr/>
        </p:nvSpPr>
        <p:spPr>
          <a:xfrm>
            <a:off x="5486263" y="3493393"/>
            <a:ext cx="6095848" cy="995561"/>
          </a:xfrm>
          <a:prstGeom prst="rect">
            <a:avLst/>
          </a:prstGeom>
          <a:noFill/>
          <a:ln/>
        </p:spPr>
        <p:txBody>
          <a:bodyPr wrap="square" lIns="0" tIns="0" rIns="0" bIns="0" rtlCol="0" anchor="t">
            <a:normAutofit/>
          </a:bodyPr>
          <a:lstStyle/>
          <a:p>
            <a:pPr algn="l" indent="0" marL="0">
              <a:lnSpc>
                <a:spcPct val="117000"/>
              </a:lnSpc>
              <a:buNone/>
            </a:pPr>
            <a:r>
              <a:rPr lang="en-US" sz="2800" dirty="0">
                <a:solidFill>
                  <a:srgbClr val="F2ECFF"/>
                </a:solidFill>
                <a:latin typeface="IBM Plex Sans" pitchFamily="34" charset="0"/>
                <a:ea typeface="IBM Plex Sans" pitchFamily="34" charset="-122"/>
                <a:cs typeface="IBM Plex Sans" pitchFamily="34" charset="-120"/>
              </a:rPr>
              <a:t>Income, rent, lender payments: notebooks or memory.</a:t>
            </a:r>
            <a:endParaRPr lang="en-US" sz="2800" dirty="0"/>
          </a:p>
        </p:txBody>
      </p:sp>
      <p:sp>
        <p:nvSpPr>
          <p:cNvPr id="7" name="Text 4"/>
          <p:cNvSpPr/>
          <p:nvPr/>
        </p:nvSpPr>
        <p:spPr>
          <a:xfrm>
            <a:off x="5486263" y="4695329"/>
            <a:ext cx="6095848" cy="746720"/>
          </a:xfrm>
          <a:prstGeom prst="rect">
            <a:avLst/>
          </a:prstGeom>
          <a:noFill/>
          <a:ln/>
        </p:spPr>
        <p:txBody>
          <a:bodyPr wrap="square" lIns="0" tIns="0" rIns="0" bIns="0" rtlCol="0" anchor="t">
            <a:normAutofit/>
          </a:bodyPr>
          <a:lstStyle/>
          <a:p>
            <a:pPr algn="l" indent="0" marL="0">
              <a:lnSpc>
                <a:spcPct val="117000"/>
              </a:lnSpc>
              <a:buNone/>
            </a:pPr>
            <a:r>
              <a:rPr lang="en-US" sz="2100" dirty="0">
                <a:solidFill>
                  <a:srgbClr val="F2ECFF"/>
                </a:solidFill>
                <a:latin typeface="IBM Plex Sans" pitchFamily="34" charset="0"/>
                <a:ea typeface="IBM Plex Sans" pitchFamily="34" charset="-122"/>
                <a:cs typeface="IBM Plex Sans" pitchFamily="34" charset="-120"/>
              </a:rPr>
              <a:t>No forecasts. Few savings habits. Apps rarely in Bengali.</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7518212" cy="182860"/>
          </a:xfrm>
          <a:prstGeom prst="rect">
            <a:avLst/>
          </a:prstGeom>
          <a:noFill/>
          <a:ln/>
        </p:spPr>
        <p:txBody>
          <a:bodyPr wrap="none" lIns="0" tIns="0" rIns="0" bIns="0" rtlCol="0" anchor="t"/>
          <a:lstStyle/>
          <a:p>
            <a:pPr algn="l" indent="0" marL="0">
              <a:lnSpc>
                <a:spcPct val="100000"/>
              </a:lnSpc>
              <a:buNone/>
            </a:pPr>
            <a:r>
              <a:rPr lang="en-US" sz="1200" spc="144" kern="100" dirty="0">
                <a:solidFill>
                  <a:srgbClr val="F2ECFF"/>
                </a:solidFill>
                <a:latin typeface="IBM Plex Sans SemiBold" pitchFamily="34" charset="0"/>
                <a:ea typeface="IBM Plex Sans SemiBold" pitchFamily="34" charset="-122"/>
                <a:cs typeface="IBM Plex Sans SemiBold" pitchFamily="34" charset="-120"/>
              </a:rPr>
              <a:t>THE COPILOT</a:t>
            </a:r>
            <a:endParaRPr lang="en-US" sz="1200" dirty="0"/>
          </a:p>
        </p:txBody>
      </p:sp>
      <p:sp>
        <p:nvSpPr>
          <p:cNvPr id="3" name="Shape 1"/>
          <p:cNvSpPr/>
          <p:nvPr/>
        </p:nvSpPr>
        <p:spPr>
          <a:xfrm>
            <a:off x="609585" y="1054398"/>
            <a:ext cx="6908528" cy="31651"/>
          </a:xfrm>
          <a:prstGeom prst="roundRect">
            <a:avLst>
              <a:gd name="adj" fmla="val 49998"/>
            </a:avLst>
          </a:prstGeom>
          <a:solidFill>
            <a:srgbClr val="3E3A66"/>
          </a:solidFill>
          <a:ln/>
        </p:spPr>
      </p:sp>
      <p:sp>
        <p:nvSpPr>
          <p:cNvPr id="4" name="Text 2"/>
          <p:cNvSpPr/>
          <p:nvPr/>
        </p:nvSpPr>
        <p:spPr>
          <a:xfrm>
            <a:off x="609585" y="1535410"/>
            <a:ext cx="6908627" cy="576064"/>
          </a:xfrm>
          <a:prstGeom prst="rect">
            <a:avLst/>
          </a:prstGeom>
          <a:noFill/>
          <a:ln/>
        </p:spPr>
        <p:txBody>
          <a:bodyPr wrap="none" lIns="0" tIns="0" rIns="0" bIns="0" rtlCol="0" anchor="t"/>
          <a:lstStyle/>
          <a:p>
            <a:pPr algn="l" indent="0" marL="0">
              <a:lnSpc>
                <a:spcPct val="90000"/>
              </a:lnSpc>
              <a:buNone/>
            </a:pPr>
            <a:r>
              <a:rPr lang="en-US" sz="4200" spc="-50" kern="100" dirty="0">
                <a:solidFill>
                  <a:srgbClr val="F2ECFF"/>
                </a:solidFill>
                <a:latin typeface="Newsreader SemiBold" pitchFamily="34" charset="0"/>
                <a:ea typeface="Newsreader SemiBold" pitchFamily="34" charset="-122"/>
                <a:cs typeface="Newsreader SemiBold" pitchFamily="34" charset="-120"/>
              </a:rPr>
              <a:t>Meet Shonchoy</a:t>
            </a:r>
            <a:endParaRPr lang="en-US" sz="4200" dirty="0"/>
          </a:p>
        </p:txBody>
      </p:sp>
      <p:sp>
        <p:nvSpPr>
          <p:cNvPr id="5" name="Text 3"/>
          <p:cNvSpPr/>
          <p:nvPr/>
        </p:nvSpPr>
        <p:spPr>
          <a:xfrm>
            <a:off x="609585" y="2340074"/>
            <a:ext cx="6908627" cy="746720"/>
          </a:xfrm>
          <a:prstGeom prst="rect">
            <a:avLst/>
          </a:prstGeom>
          <a:noFill/>
          <a:ln/>
        </p:spPr>
        <p:txBody>
          <a:bodyPr wrap="square" lIns="0" tIns="0" rIns="0" bIns="0" rtlCol="0" anchor="t">
            <a:normAutofit/>
          </a:bodyPr>
          <a:lstStyle/>
          <a:p>
            <a:pPr algn="l" indent="0" marL="0">
              <a:lnSpc>
                <a:spcPct val="117000"/>
              </a:lnSpc>
              <a:buNone/>
            </a:pPr>
            <a:r>
              <a:rPr lang="en-US" sz="2100" dirty="0">
                <a:solidFill>
                  <a:srgbClr val="F2ECFF"/>
                </a:solidFill>
                <a:latin typeface="IBM Plex Sans" pitchFamily="34" charset="0"/>
                <a:ea typeface="IBM Plex Sans" pitchFamily="34" charset="-122"/>
                <a:cs typeface="IBM Plex Sans" pitchFamily="34" charset="-120"/>
              </a:rPr>
              <a:t>Bengali-first AI. Track income/expenses, find savings, flag bills.</a:t>
            </a:r>
            <a:endParaRPr lang="en-US" sz="2100" dirty="0"/>
          </a:p>
        </p:txBody>
      </p:sp>
      <p:sp>
        <p:nvSpPr>
          <p:cNvPr id="6" name="Text 4"/>
          <p:cNvSpPr/>
          <p:nvPr/>
        </p:nvSpPr>
        <p:spPr>
          <a:xfrm>
            <a:off x="609585" y="3736181"/>
            <a:ext cx="3225719" cy="607516"/>
          </a:xfrm>
          <a:prstGeom prst="rect">
            <a:avLst/>
          </a:prstGeom>
          <a:noFill/>
          <a:ln/>
        </p:spPr>
        <p:txBody>
          <a:bodyPr wrap="none" lIns="0" tIns="0" rIns="0" bIns="0" rtlCol="0" anchor="t"/>
          <a:lstStyle/>
          <a:p>
            <a:pPr algn="l" indent="0" marL="0">
              <a:lnSpc>
                <a:spcPct val="87000"/>
              </a:lnSpc>
              <a:buNone/>
            </a:pPr>
            <a:r>
              <a:rPr lang="en-US" sz="4600" spc="-92" kern="100" dirty="0">
                <a:solidFill>
                  <a:srgbClr val="F2ECFF"/>
                </a:solidFill>
                <a:latin typeface="Newsreader SemiBold" pitchFamily="34" charset="0"/>
                <a:ea typeface="Newsreader SemiBold" pitchFamily="34" charset="-122"/>
                <a:cs typeface="Newsreader SemiBold" pitchFamily="34" charset="-120"/>
              </a:rPr>
              <a:t>৳22,000</a:t>
            </a:r>
            <a:endParaRPr lang="en-US" sz="4600" dirty="0"/>
          </a:p>
        </p:txBody>
      </p:sp>
      <p:sp>
        <p:nvSpPr>
          <p:cNvPr id="7" name="Text 5"/>
          <p:cNvSpPr/>
          <p:nvPr/>
        </p:nvSpPr>
        <p:spPr>
          <a:xfrm>
            <a:off x="609585" y="4572298"/>
            <a:ext cx="3454314" cy="214610"/>
          </a:xfrm>
          <a:prstGeom prst="rect">
            <a:avLst/>
          </a:prstGeom>
          <a:noFill/>
          <a:ln/>
        </p:spPr>
        <p:txBody>
          <a:bodyPr wrap="none" lIns="0" tIns="0" rIns="0" bIns="0" rtlCol="0" anchor="t"/>
          <a:lstStyle/>
          <a:p>
            <a:pPr algn="l" indent="0" marL="0">
              <a:lnSpc>
                <a:spcPct val="108000"/>
              </a:lnSpc>
              <a:buNone/>
            </a:pPr>
            <a:r>
              <a:rPr lang="en-US" sz="1300" dirty="0">
                <a:solidFill>
                  <a:srgbClr val="B9B3D6"/>
                </a:solidFill>
                <a:latin typeface="IBM Plex Sans" pitchFamily="34" charset="0"/>
                <a:ea typeface="IBM Plex Sans" pitchFamily="34" charset="-122"/>
                <a:cs typeface="IBM Plex Sans" pitchFamily="34" charset="-120"/>
              </a:rPr>
              <a:t>Income</a:t>
            </a:r>
            <a:endParaRPr lang="en-US" sz="1300" dirty="0"/>
          </a:p>
        </p:txBody>
      </p:sp>
      <p:sp>
        <p:nvSpPr>
          <p:cNvPr id="8" name="Text 6"/>
          <p:cNvSpPr/>
          <p:nvPr/>
        </p:nvSpPr>
        <p:spPr>
          <a:xfrm>
            <a:off x="4292493" y="3736181"/>
            <a:ext cx="3225719" cy="607516"/>
          </a:xfrm>
          <a:prstGeom prst="rect">
            <a:avLst/>
          </a:prstGeom>
          <a:noFill/>
          <a:ln/>
        </p:spPr>
        <p:txBody>
          <a:bodyPr wrap="none" lIns="0" tIns="0" rIns="0" bIns="0" rtlCol="0" anchor="t"/>
          <a:lstStyle/>
          <a:p>
            <a:pPr algn="l" indent="0" marL="0">
              <a:lnSpc>
                <a:spcPct val="87000"/>
              </a:lnSpc>
              <a:buNone/>
            </a:pPr>
            <a:r>
              <a:rPr lang="en-US" sz="4600" spc="-92" kern="100" dirty="0">
                <a:solidFill>
                  <a:srgbClr val="4F8EF7"/>
                </a:solidFill>
                <a:latin typeface="Newsreader SemiBold" pitchFamily="34" charset="0"/>
                <a:ea typeface="Newsreader SemiBold" pitchFamily="34" charset="-122"/>
                <a:cs typeface="Newsreader SemiBold" pitchFamily="34" charset="-120"/>
              </a:rPr>
              <a:t>৳320</a:t>
            </a:r>
            <a:endParaRPr lang="en-US" sz="4600" dirty="0"/>
          </a:p>
        </p:txBody>
      </p:sp>
      <p:sp>
        <p:nvSpPr>
          <p:cNvPr id="9" name="Text 7"/>
          <p:cNvSpPr/>
          <p:nvPr/>
        </p:nvSpPr>
        <p:spPr>
          <a:xfrm>
            <a:off x="4292493" y="4572298"/>
            <a:ext cx="3225719" cy="214610"/>
          </a:xfrm>
          <a:prstGeom prst="rect">
            <a:avLst/>
          </a:prstGeom>
          <a:noFill/>
          <a:ln/>
        </p:spPr>
        <p:txBody>
          <a:bodyPr wrap="none" lIns="0" tIns="0" rIns="0" bIns="0" rtlCol="0" anchor="t"/>
          <a:lstStyle/>
          <a:p>
            <a:pPr algn="l" indent="0" marL="0">
              <a:lnSpc>
                <a:spcPct val="108000"/>
              </a:lnSpc>
              <a:buNone/>
            </a:pPr>
            <a:r>
              <a:rPr lang="en-US" sz="1300" dirty="0">
                <a:solidFill>
                  <a:srgbClr val="B9B3D6"/>
                </a:solidFill>
                <a:latin typeface="IBM Plex Sans" pitchFamily="34" charset="0"/>
                <a:ea typeface="IBM Plex Sans" pitchFamily="34" charset="-122"/>
                <a:cs typeface="IBM Plex Sans" pitchFamily="34" charset="-120"/>
              </a:rPr>
              <a:t>Savings found</a:t>
            </a:r>
            <a:endParaRPr lang="en-US" sz="1300" dirty="0"/>
          </a:p>
        </p:txBody>
      </p:sp>
      <p:sp>
        <p:nvSpPr>
          <p:cNvPr id="10" name="Text 8"/>
          <p:cNvSpPr/>
          <p:nvPr/>
        </p:nvSpPr>
        <p:spPr>
          <a:xfrm>
            <a:off x="609585" y="5436295"/>
            <a:ext cx="7518212" cy="319980"/>
          </a:xfrm>
          <a:prstGeom prst="rect">
            <a:avLst/>
          </a:prstGeom>
          <a:noFill/>
          <a:ln/>
        </p:spPr>
        <p:txBody>
          <a:bodyPr wrap="none" lIns="0" tIns="0" rIns="0" bIns="0" rtlCol="0" anchor="t"/>
          <a:lstStyle/>
          <a:p>
            <a:pPr algn="l" indent="0" marL="0">
              <a:lnSpc>
                <a:spcPct val="117000"/>
              </a:lnSpc>
              <a:buNone/>
            </a:pPr>
            <a:r>
              <a:rPr lang="en-US" sz="1800" dirty="0">
                <a:solidFill>
                  <a:srgbClr val="F2ECFF"/>
                </a:solidFill>
                <a:latin typeface="IBM Plex Sans" pitchFamily="34" charset="0"/>
                <a:ea typeface="IBM Plex Sans" pitchFamily="34" charset="-122"/>
                <a:cs typeface="IBM Plex Sans" pitchFamily="34" charset="-120"/>
              </a:rPr>
              <a:t>Voice/text input.</a:t>
            </a:r>
            <a:endParaRPr lang="en-US" sz="1800" dirty="0"/>
          </a:p>
        </p:txBody>
      </p:sp>
      <p:sp>
        <p:nvSpPr>
          <p:cNvPr id="11" name="Text 9"/>
          <p:cNvSpPr/>
          <p:nvPr/>
        </p:nvSpPr>
        <p:spPr>
          <a:xfrm>
            <a:off x="609585" y="5962650"/>
            <a:ext cx="7518212" cy="285750"/>
          </a:xfrm>
          <a:prstGeom prst="rect">
            <a:avLst/>
          </a:prstGeom>
          <a:noFill/>
          <a:ln/>
        </p:spPr>
        <p:txBody>
          <a:bodyPr wrap="none" lIns="0" tIns="0" rIns="0" bIns="0" rtlCol="0" anchor="t"/>
          <a:lstStyle/>
          <a:p>
            <a:pPr algn="l" indent="0" marL="0">
              <a:lnSpc>
                <a:spcPct val="104000"/>
              </a:lnSpc>
              <a:buNone/>
            </a:pPr>
            <a:r>
              <a:rPr lang="en-US" sz="1800" i="1" dirty="0">
                <a:solidFill>
                  <a:srgbClr val="F2ECFF"/>
                </a:solidFill>
                <a:latin typeface="Newsreader" pitchFamily="34" charset="0"/>
                <a:ea typeface="Newsreader" pitchFamily="34" charset="-122"/>
                <a:cs typeface="Newsreader" pitchFamily="34" charset="-120"/>
              </a:rPr>
              <a:t>NLP means understanding human language.</a:t>
            </a:r>
            <a:endParaRPr lang="en-US" sz="1800" dirty="0"/>
          </a:p>
        </p:txBody>
      </p:sp>
      <p:pic>
        <p:nvPicPr>
          <p:cNvPr id="12" name="Image 0" descr="preencoded.png">    </p:cNvPr>
          <p:cNvPicPr>
            <a:picLocks noChangeAspect="1"/>
          </p:cNvPicPr>
          <p:nvPr/>
        </p:nvPicPr>
        <p:blipFill>
          <a:blip r:embed="rId1"/>
          <a:stretch>
            <a:fillRect/>
          </a:stretch>
        </p:blipFill>
        <p:spPr>
          <a:xfrm>
            <a:off x="8127797" y="558800"/>
            <a:ext cx="4063898" cy="5918200"/>
          </a:xfrm>
          <a:prstGeom prst="rect">
            <a:avLst/>
          </a:prstGeom>
        </p:spPr>
      </p:pic>
      <p:sp>
        <p:nvSpPr>
          <p:cNvPr id="13" name="Shape 10"/>
          <p:cNvSpPr/>
          <p:nvPr/>
        </p:nvSpPr>
        <p:spPr>
          <a:xfrm>
            <a:off x="4057548" y="3736181"/>
            <a:ext cx="12700" cy="1050727"/>
          </a:xfrm>
          <a:prstGeom prst="rect">
            <a:avLst/>
          </a:prstGeom>
          <a:solidFill>
            <a:srgbClr val="808080">
              <a:alpha val="35000"/>
            </a:srgbClr>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44" kern="100" dirty="0">
                <a:solidFill>
                  <a:srgbClr val="F2ECFF"/>
                </a:solidFill>
                <a:latin typeface="IBM Plex Sans SemiBold" pitchFamily="34" charset="0"/>
                <a:ea typeface="IBM Plex Sans SemiBold" pitchFamily="34" charset="-122"/>
                <a:cs typeface="IBM Plex Sans SemiBold" pitchFamily="34" charset="-120"/>
              </a:rPr>
              <a:t>HOW THE COPILOT THINKS</a:t>
            </a:r>
            <a:endParaRPr lang="en-US" sz="1200" dirty="0"/>
          </a:p>
        </p:txBody>
      </p:sp>
      <p:sp>
        <p:nvSpPr>
          <p:cNvPr id="3" name="Shape 1"/>
          <p:cNvSpPr/>
          <p:nvPr/>
        </p:nvSpPr>
        <p:spPr>
          <a:xfrm>
            <a:off x="609585" y="1054398"/>
            <a:ext cx="10972526" cy="31651"/>
          </a:xfrm>
          <a:prstGeom prst="roundRect">
            <a:avLst>
              <a:gd name="adj" fmla="val 49998"/>
            </a:avLst>
          </a:prstGeom>
          <a:solidFill>
            <a:srgbClr val="3E3A66"/>
          </a:solidFill>
          <a:ln/>
        </p:spPr>
      </p:sp>
      <p:sp>
        <p:nvSpPr>
          <p:cNvPr id="4" name="Text 2"/>
          <p:cNvSpPr/>
          <p:nvPr/>
        </p:nvSpPr>
        <p:spPr>
          <a:xfrm>
            <a:off x="609585" y="1535410"/>
            <a:ext cx="10972526" cy="576064"/>
          </a:xfrm>
          <a:prstGeom prst="rect">
            <a:avLst/>
          </a:prstGeom>
          <a:noFill/>
          <a:ln/>
        </p:spPr>
        <p:txBody>
          <a:bodyPr wrap="none" lIns="0" tIns="0" rIns="0" bIns="0" rtlCol="0" anchor="t"/>
          <a:lstStyle/>
          <a:p>
            <a:pPr algn="l" indent="0" marL="0">
              <a:lnSpc>
                <a:spcPct val="90000"/>
              </a:lnSpc>
              <a:buNone/>
            </a:pPr>
            <a:r>
              <a:rPr lang="en-US" sz="4200" spc="-50" kern="100" dirty="0">
                <a:solidFill>
                  <a:srgbClr val="F2ECFF"/>
                </a:solidFill>
                <a:latin typeface="Newsreader SemiBold" pitchFamily="34" charset="0"/>
                <a:ea typeface="Newsreader SemiBold" pitchFamily="34" charset="-122"/>
                <a:cs typeface="Newsreader SemiBold" pitchFamily="34" charset="-120"/>
              </a:rPr>
              <a:t>From history to forecast</a:t>
            </a:r>
            <a:endParaRPr lang="en-US" sz="4200" dirty="0"/>
          </a:p>
        </p:txBody>
      </p:sp>
      <p:sp>
        <p:nvSpPr>
          <p:cNvPr id="5" name="Text 3"/>
          <p:cNvSpPr/>
          <p:nvPr/>
        </p:nvSpPr>
        <p:spPr>
          <a:xfrm>
            <a:off x="609585" y="2890738"/>
            <a:ext cx="883918" cy="228600"/>
          </a:xfrm>
          <a:prstGeom prst="rect">
            <a:avLst/>
          </a:prstGeom>
          <a:noFill/>
          <a:ln/>
        </p:spPr>
        <p:txBody>
          <a:bodyPr wrap="none" lIns="0" tIns="0" rIns="0" bIns="0" rtlCol="0" anchor="t"/>
          <a:lstStyle/>
          <a:p>
            <a:pPr algn="l" indent="0" marL="0">
              <a:lnSpc>
                <a:spcPct val="83000"/>
              </a:lnSpc>
              <a:buNone/>
            </a:pPr>
            <a:r>
              <a:rPr lang="en-US" sz="1800" dirty="0">
                <a:solidFill>
                  <a:srgbClr val="4F8EF7"/>
                </a:solidFill>
                <a:latin typeface="IBM Plex Sans SemiBold" pitchFamily="34" charset="0"/>
                <a:ea typeface="IBM Plex Sans SemiBold" pitchFamily="34" charset="-122"/>
                <a:cs typeface="IBM Plex Sans SemiBold" pitchFamily="34" charset="-120"/>
              </a:rPr>
              <a:t>01</a:t>
            </a:r>
            <a:endParaRPr lang="en-US" sz="1800" dirty="0"/>
          </a:p>
        </p:txBody>
      </p:sp>
      <p:sp>
        <p:nvSpPr>
          <p:cNvPr id="6" name="Shape 4"/>
          <p:cNvSpPr/>
          <p:nvPr/>
        </p:nvSpPr>
        <p:spPr>
          <a:xfrm>
            <a:off x="609585" y="3210818"/>
            <a:ext cx="3352716" cy="19050"/>
          </a:xfrm>
          <a:prstGeom prst="rect">
            <a:avLst/>
          </a:prstGeom>
          <a:solidFill>
            <a:srgbClr val="4F8EF7"/>
          </a:solidFill>
          <a:ln/>
        </p:spPr>
      </p:sp>
      <p:sp>
        <p:nvSpPr>
          <p:cNvPr id="7" name="Text 5"/>
          <p:cNvSpPr/>
          <p:nvPr/>
        </p:nvSpPr>
        <p:spPr>
          <a:xfrm>
            <a:off x="609585" y="3366988"/>
            <a:ext cx="3352716" cy="319980"/>
          </a:xfrm>
          <a:prstGeom prst="rect">
            <a:avLst/>
          </a:prstGeom>
          <a:noFill/>
          <a:ln/>
        </p:spPr>
        <p:txBody>
          <a:bodyPr wrap="none" lIns="0" tIns="0" rIns="0" bIns="0" rtlCol="0" anchor="t"/>
          <a:lstStyle/>
          <a:p>
            <a:pPr algn="l" indent="0" marL="0">
              <a:lnSpc>
                <a:spcPct val="100000"/>
              </a:lnSpc>
              <a:buNone/>
            </a:pPr>
            <a:r>
              <a:rPr lang="en-US" sz="2100" dirty="0">
                <a:solidFill>
                  <a:srgbClr val="F2ECFF"/>
                </a:solidFill>
                <a:latin typeface="IBM Plex Sans SemiBold" pitchFamily="34" charset="0"/>
                <a:ea typeface="IBM Plex Sans SemiBold" pitchFamily="34" charset="-122"/>
                <a:cs typeface="IBM Plex Sans SemiBold" pitchFamily="34" charset="-120"/>
              </a:rPr>
              <a:t>Past transactions</a:t>
            </a:r>
            <a:endParaRPr lang="en-US" sz="2100" dirty="0"/>
          </a:p>
        </p:txBody>
      </p:sp>
      <p:sp>
        <p:nvSpPr>
          <p:cNvPr id="8" name="Text 6"/>
          <p:cNvSpPr/>
          <p:nvPr/>
        </p:nvSpPr>
        <p:spPr>
          <a:xfrm>
            <a:off x="4419489" y="2890738"/>
            <a:ext cx="883918" cy="228600"/>
          </a:xfrm>
          <a:prstGeom prst="rect">
            <a:avLst/>
          </a:prstGeom>
          <a:noFill/>
          <a:ln/>
        </p:spPr>
        <p:txBody>
          <a:bodyPr wrap="none" lIns="0" tIns="0" rIns="0" bIns="0" rtlCol="0" anchor="t"/>
          <a:lstStyle/>
          <a:p>
            <a:pPr algn="l" indent="0" marL="0">
              <a:lnSpc>
                <a:spcPct val="83000"/>
              </a:lnSpc>
              <a:buNone/>
            </a:pPr>
            <a:r>
              <a:rPr lang="en-US" sz="1800" dirty="0">
                <a:solidFill>
                  <a:srgbClr val="4F8EF7"/>
                </a:solidFill>
                <a:latin typeface="IBM Plex Sans SemiBold" pitchFamily="34" charset="0"/>
                <a:ea typeface="IBM Plex Sans SemiBold" pitchFamily="34" charset="-122"/>
                <a:cs typeface="IBM Plex Sans SemiBold" pitchFamily="34" charset="-120"/>
              </a:rPr>
              <a:t>02</a:t>
            </a:r>
            <a:endParaRPr lang="en-US" sz="1800" dirty="0"/>
          </a:p>
        </p:txBody>
      </p:sp>
      <p:sp>
        <p:nvSpPr>
          <p:cNvPr id="9" name="Shape 7"/>
          <p:cNvSpPr/>
          <p:nvPr/>
        </p:nvSpPr>
        <p:spPr>
          <a:xfrm>
            <a:off x="4419489" y="3210818"/>
            <a:ext cx="3352716" cy="19050"/>
          </a:xfrm>
          <a:prstGeom prst="rect">
            <a:avLst/>
          </a:prstGeom>
          <a:solidFill>
            <a:srgbClr val="4F8EF7"/>
          </a:solidFill>
          <a:ln/>
        </p:spPr>
      </p:sp>
      <p:sp>
        <p:nvSpPr>
          <p:cNvPr id="10" name="Text 8"/>
          <p:cNvSpPr/>
          <p:nvPr/>
        </p:nvSpPr>
        <p:spPr>
          <a:xfrm>
            <a:off x="4419489" y="3366988"/>
            <a:ext cx="3352716" cy="319980"/>
          </a:xfrm>
          <a:prstGeom prst="rect">
            <a:avLst/>
          </a:prstGeom>
          <a:noFill/>
          <a:ln/>
        </p:spPr>
        <p:txBody>
          <a:bodyPr wrap="none" lIns="0" tIns="0" rIns="0" bIns="0" rtlCol="0" anchor="t"/>
          <a:lstStyle/>
          <a:p>
            <a:pPr algn="l" indent="0" marL="0">
              <a:lnSpc>
                <a:spcPct val="100000"/>
              </a:lnSpc>
              <a:buNone/>
            </a:pPr>
            <a:r>
              <a:rPr lang="en-US" sz="2100" dirty="0">
                <a:solidFill>
                  <a:srgbClr val="F2ECFF"/>
                </a:solidFill>
                <a:latin typeface="IBM Plex Sans SemiBold" pitchFamily="34" charset="0"/>
                <a:ea typeface="IBM Plex Sans SemiBold" pitchFamily="34" charset="-122"/>
                <a:cs typeface="IBM Plex Sans SemiBold" pitchFamily="34" charset="-120"/>
              </a:rPr>
              <a:t>Pattern model</a:t>
            </a:r>
            <a:endParaRPr lang="en-US" sz="2100" dirty="0"/>
          </a:p>
        </p:txBody>
      </p:sp>
      <p:sp>
        <p:nvSpPr>
          <p:cNvPr id="11" name="Text 9"/>
          <p:cNvSpPr/>
          <p:nvPr/>
        </p:nvSpPr>
        <p:spPr>
          <a:xfrm>
            <a:off x="8229394" y="2890738"/>
            <a:ext cx="883918" cy="228600"/>
          </a:xfrm>
          <a:prstGeom prst="rect">
            <a:avLst/>
          </a:prstGeom>
          <a:noFill/>
          <a:ln/>
        </p:spPr>
        <p:txBody>
          <a:bodyPr wrap="none" lIns="0" tIns="0" rIns="0" bIns="0" rtlCol="0" anchor="t"/>
          <a:lstStyle/>
          <a:p>
            <a:pPr algn="l" indent="0" marL="0">
              <a:lnSpc>
                <a:spcPct val="83000"/>
              </a:lnSpc>
              <a:buNone/>
            </a:pPr>
            <a:r>
              <a:rPr lang="en-US" sz="1800" dirty="0">
                <a:solidFill>
                  <a:srgbClr val="4F8EF7"/>
                </a:solidFill>
                <a:latin typeface="IBM Plex Sans SemiBold" pitchFamily="34" charset="0"/>
                <a:ea typeface="IBM Plex Sans SemiBold" pitchFamily="34" charset="-122"/>
                <a:cs typeface="IBM Plex Sans SemiBold" pitchFamily="34" charset="-120"/>
              </a:rPr>
              <a:t>03</a:t>
            </a:r>
            <a:endParaRPr lang="en-US" sz="1800" dirty="0"/>
          </a:p>
        </p:txBody>
      </p:sp>
      <p:sp>
        <p:nvSpPr>
          <p:cNvPr id="12" name="Shape 10"/>
          <p:cNvSpPr/>
          <p:nvPr/>
        </p:nvSpPr>
        <p:spPr>
          <a:xfrm>
            <a:off x="8229394" y="3210818"/>
            <a:ext cx="3352716" cy="19050"/>
          </a:xfrm>
          <a:prstGeom prst="rect">
            <a:avLst/>
          </a:prstGeom>
          <a:solidFill>
            <a:srgbClr val="4F8EF7"/>
          </a:solidFill>
          <a:ln/>
        </p:spPr>
      </p:sp>
      <p:sp>
        <p:nvSpPr>
          <p:cNvPr id="13" name="Text 11"/>
          <p:cNvSpPr/>
          <p:nvPr/>
        </p:nvSpPr>
        <p:spPr>
          <a:xfrm>
            <a:off x="8229394" y="3366988"/>
            <a:ext cx="3352716" cy="319980"/>
          </a:xfrm>
          <a:prstGeom prst="rect">
            <a:avLst/>
          </a:prstGeom>
          <a:noFill/>
          <a:ln/>
        </p:spPr>
        <p:txBody>
          <a:bodyPr wrap="none" lIns="0" tIns="0" rIns="0" bIns="0" rtlCol="0" anchor="t"/>
          <a:lstStyle/>
          <a:p>
            <a:pPr algn="l" indent="0" marL="0">
              <a:lnSpc>
                <a:spcPct val="100000"/>
              </a:lnSpc>
              <a:buNone/>
            </a:pPr>
            <a:r>
              <a:rPr lang="en-US" sz="2100" dirty="0">
                <a:solidFill>
                  <a:srgbClr val="F2ECFF"/>
                </a:solidFill>
                <a:latin typeface="IBM Plex Sans SemiBold" pitchFamily="34" charset="0"/>
                <a:ea typeface="IBM Plex Sans SemiBold" pitchFamily="34" charset="-122"/>
                <a:cs typeface="IBM Plex Sans SemiBold" pitchFamily="34" charset="-120"/>
              </a:rPr>
              <a:t>Expenses rise</a:t>
            </a:r>
            <a:endParaRPr lang="en-US" sz="2100" dirty="0"/>
          </a:p>
        </p:txBody>
      </p:sp>
      <p:sp>
        <p:nvSpPr>
          <p:cNvPr id="14" name="Text 12"/>
          <p:cNvSpPr/>
          <p:nvPr/>
        </p:nvSpPr>
        <p:spPr>
          <a:xfrm>
            <a:off x="8229394" y="3852069"/>
            <a:ext cx="3352716" cy="319980"/>
          </a:xfrm>
          <a:prstGeom prst="rect">
            <a:avLst/>
          </a:prstGeom>
          <a:noFill/>
          <a:ln/>
        </p:spPr>
        <p:txBody>
          <a:bodyPr wrap="none" lIns="0" tIns="0" rIns="0" bIns="0" rtlCol="0" anchor="t"/>
          <a:lstStyle/>
          <a:p>
            <a:pPr algn="l" indent="0" marL="0">
              <a:lnSpc>
                <a:spcPct val="117000"/>
              </a:lnSpc>
              <a:buNone/>
            </a:pPr>
            <a:r>
              <a:rPr lang="en-US" sz="1800" dirty="0">
                <a:solidFill>
                  <a:srgbClr val="F2ECFF"/>
                </a:solidFill>
                <a:latin typeface="IBM Plex Sans" pitchFamily="34" charset="0"/>
                <a:ea typeface="IBM Plex Sans" pitchFamily="34" charset="-122"/>
                <a:cs typeface="IBM Plex Sans" pitchFamily="34" charset="-120"/>
              </a:rPr>
              <a:t>28th–31st</a:t>
            </a:r>
            <a:endParaRPr lang="en-US" sz="1800" dirty="0"/>
          </a:p>
        </p:txBody>
      </p:sp>
      <p:sp>
        <p:nvSpPr>
          <p:cNvPr id="15" name="Text 13"/>
          <p:cNvSpPr/>
          <p:nvPr/>
        </p:nvSpPr>
        <p:spPr>
          <a:xfrm>
            <a:off x="609585" y="4951313"/>
            <a:ext cx="5257668" cy="319980"/>
          </a:xfrm>
          <a:prstGeom prst="rect">
            <a:avLst/>
          </a:prstGeom>
          <a:noFill/>
          <a:ln/>
        </p:spPr>
        <p:txBody>
          <a:bodyPr wrap="none" lIns="0" tIns="0" rIns="0" bIns="0" rtlCol="0" anchor="t"/>
          <a:lstStyle/>
          <a:p>
            <a:pPr algn="l" indent="0" marL="0">
              <a:lnSpc>
                <a:spcPct val="100000"/>
              </a:lnSpc>
              <a:buNone/>
            </a:pPr>
            <a:r>
              <a:rPr lang="en-US" sz="2100" dirty="0">
                <a:solidFill>
                  <a:srgbClr val="F2ECFF"/>
                </a:solidFill>
                <a:latin typeface="IBM Plex Sans SemiBold" pitchFamily="34" charset="0"/>
                <a:ea typeface="IBM Plex Sans SemiBold" pitchFamily="34" charset="-122"/>
                <a:cs typeface="IBM Plex Sans SemiBold" pitchFamily="34" charset="-120"/>
              </a:rPr>
              <a:t>March 28</a:t>
            </a:r>
            <a:endParaRPr lang="en-US" sz="2100" dirty="0"/>
          </a:p>
        </p:txBody>
      </p:sp>
      <p:sp>
        <p:nvSpPr>
          <p:cNvPr id="16" name="Text 14"/>
          <p:cNvSpPr/>
          <p:nvPr/>
        </p:nvSpPr>
        <p:spPr>
          <a:xfrm>
            <a:off x="609585" y="5436394"/>
            <a:ext cx="5486263" cy="319980"/>
          </a:xfrm>
          <a:prstGeom prst="rect">
            <a:avLst/>
          </a:prstGeom>
          <a:noFill/>
          <a:ln/>
        </p:spPr>
        <p:txBody>
          <a:bodyPr wrap="none" lIns="0" tIns="0" rIns="0" bIns="0" rtlCol="0" anchor="t"/>
          <a:lstStyle/>
          <a:p>
            <a:pPr algn="l" indent="0" marL="0">
              <a:lnSpc>
                <a:spcPct val="117000"/>
              </a:lnSpc>
              <a:buNone/>
            </a:pPr>
            <a:r>
              <a:rPr lang="en-US" sz="1800" dirty="0">
                <a:solidFill>
                  <a:srgbClr val="F2ECFF"/>
                </a:solidFill>
                <a:latin typeface="IBM Plex Sans" pitchFamily="34" charset="0"/>
                <a:ea typeface="IBM Plex Sans" pitchFamily="34" charset="-122"/>
                <a:cs typeface="IBM Plex Sans" pitchFamily="34" charset="-120"/>
              </a:rPr>
              <a:t>Lender payment</a:t>
            </a:r>
            <a:endParaRPr lang="en-US" sz="1800" dirty="0"/>
          </a:p>
        </p:txBody>
      </p:sp>
      <p:sp>
        <p:nvSpPr>
          <p:cNvPr id="17" name="Text 15"/>
          <p:cNvSpPr/>
          <p:nvPr/>
        </p:nvSpPr>
        <p:spPr>
          <a:xfrm>
            <a:off x="6324442" y="4951313"/>
            <a:ext cx="5257668" cy="319980"/>
          </a:xfrm>
          <a:prstGeom prst="rect">
            <a:avLst/>
          </a:prstGeom>
          <a:noFill/>
          <a:ln/>
        </p:spPr>
        <p:txBody>
          <a:bodyPr wrap="none" lIns="0" tIns="0" rIns="0" bIns="0" rtlCol="0" anchor="t"/>
          <a:lstStyle/>
          <a:p>
            <a:pPr algn="l" indent="0" marL="0">
              <a:lnSpc>
                <a:spcPct val="100000"/>
              </a:lnSpc>
              <a:buNone/>
            </a:pPr>
            <a:r>
              <a:rPr lang="en-US" sz="2100" dirty="0">
                <a:solidFill>
                  <a:srgbClr val="F2ECFF"/>
                </a:solidFill>
                <a:latin typeface="IBM Plex Sans SemiBold" pitchFamily="34" charset="0"/>
                <a:ea typeface="IBM Plex Sans SemiBold" pitchFamily="34" charset="-122"/>
                <a:cs typeface="IBM Plex Sans SemiBold" pitchFamily="34" charset="-120"/>
              </a:rPr>
              <a:t>March 29</a:t>
            </a:r>
            <a:endParaRPr lang="en-US" sz="2100" dirty="0"/>
          </a:p>
        </p:txBody>
      </p:sp>
      <p:sp>
        <p:nvSpPr>
          <p:cNvPr id="18" name="Text 16"/>
          <p:cNvSpPr/>
          <p:nvPr/>
        </p:nvSpPr>
        <p:spPr>
          <a:xfrm>
            <a:off x="6324442" y="5436394"/>
            <a:ext cx="5257668" cy="319980"/>
          </a:xfrm>
          <a:prstGeom prst="rect">
            <a:avLst/>
          </a:prstGeom>
          <a:noFill/>
          <a:ln/>
        </p:spPr>
        <p:txBody>
          <a:bodyPr wrap="none" lIns="0" tIns="0" rIns="0" bIns="0" rtlCol="0" anchor="t"/>
          <a:lstStyle/>
          <a:p>
            <a:pPr algn="l" indent="0" marL="0">
              <a:lnSpc>
                <a:spcPct val="117000"/>
              </a:lnSpc>
              <a:buNone/>
            </a:pPr>
            <a:r>
              <a:rPr lang="en-US" sz="1800" dirty="0">
                <a:solidFill>
                  <a:srgbClr val="F2ECFF"/>
                </a:solidFill>
                <a:latin typeface="IBM Plex Sans" pitchFamily="34" charset="0"/>
                <a:ea typeface="IBM Plex Sans" pitchFamily="34" charset="-122"/>
                <a:cs typeface="IBM Plex Sans" pitchFamily="34" charset="-120"/>
              </a:rPr>
              <a:t>Shop rent</a:t>
            </a:r>
            <a:endParaRPr lang="en-US" sz="1800" dirty="0"/>
          </a:p>
        </p:txBody>
      </p:sp>
      <p:sp>
        <p:nvSpPr>
          <p:cNvPr id="19" name="Text 17"/>
          <p:cNvSpPr/>
          <p:nvPr/>
        </p:nvSpPr>
        <p:spPr>
          <a:xfrm>
            <a:off x="609585" y="5962749"/>
            <a:ext cx="11582110" cy="285750"/>
          </a:xfrm>
          <a:prstGeom prst="rect">
            <a:avLst/>
          </a:prstGeom>
          <a:noFill/>
          <a:ln/>
        </p:spPr>
        <p:txBody>
          <a:bodyPr wrap="none" lIns="0" tIns="0" rIns="0" bIns="0" rtlCol="0" anchor="t"/>
          <a:lstStyle/>
          <a:p>
            <a:pPr algn="l" indent="0" marL="0">
              <a:lnSpc>
                <a:spcPct val="104000"/>
              </a:lnSpc>
              <a:buNone/>
            </a:pPr>
            <a:r>
              <a:rPr lang="en-US" sz="1800" i="1" dirty="0">
                <a:solidFill>
                  <a:srgbClr val="F2ECFF"/>
                </a:solidFill>
                <a:latin typeface="Newsreader" pitchFamily="34" charset="0"/>
                <a:ea typeface="Newsreader" pitchFamily="34" charset="-122"/>
                <a:cs typeface="Newsreader" pitchFamily="34" charset="-120"/>
              </a:rPr>
              <a:t>Forecasting estimates future spending from history.</a:t>
            </a:r>
            <a:endParaRPr lang="en-US" sz="1800" dirty="0"/>
          </a:p>
        </p:txBody>
      </p:sp>
      <p:sp>
        <p:nvSpPr>
          <p:cNvPr id="20" name="Shape 18"/>
          <p:cNvSpPr/>
          <p:nvPr/>
        </p:nvSpPr>
        <p:spPr>
          <a:xfrm>
            <a:off x="6089498" y="4951313"/>
            <a:ext cx="12700" cy="805061"/>
          </a:xfrm>
          <a:prstGeom prst="rect">
            <a:avLst/>
          </a:prstGeom>
          <a:solidFill>
            <a:srgbClr val="808080">
              <a:alpha val="35000"/>
            </a:srgbClr>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44" kern="100" dirty="0">
                <a:solidFill>
                  <a:srgbClr val="F2ECFF"/>
                </a:solidFill>
                <a:latin typeface="IBM Plex Sans SemiBold" pitchFamily="34" charset="0"/>
                <a:ea typeface="IBM Plex Sans SemiBold" pitchFamily="34" charset="-122"/>
                <a:cs typeface="IBM Plex Sans SemiBold" pitchFamily="34" charset="-120"/>
              </a:rPr>
              <a:t>INSIDE THE ANSWER</a:t>
            </a:r>
            <a:endParaRPr lang="en-US" sz="1200" dirty="0"/>
          </a:p>
        </p:txBody>
      </p:sp>
      <p:sp>
        <p:nvSpPr>
          <p:cNvPr id="3" name="Shape 1"/>
          <p:cNvSpPr/>
          <p:nvPr/>
        </p:nvSpPr>
        <p:spPr>
          <a:xfrm>
            <a:off x="609585" y="1054398"/>
            <a:ext cx="10972526" cy="31651"/>
          </a:xfrm>
          <a:prstGeom prst="roundRect">
            <a:avLst>
              <a:gd name="adj" fmla="val 49998"/>
            </a:avLst>
          </a:prstGeom>
          <a:solidFill>
            <a:srgbClr val="3E3A66"/>
          </a:solidFill>
          <a:ln/>
        </p:spPr>
      </p:sp>
      <p:sp>
        <p:nvSpPr>
          <p:cNvPr id="4" name="Text 2"/>
          <p:cNvSpPr/>
          <p:nvPr/>
        </p:nvSpPr>
        <p:spPr>
          <a:xfrm>
            <a:off x="609585" y="1535410"/>
            <a:ext cx="10972526" cy="576064"/>
          </a:xfrm>
          <a:prstGeom prst="rect">
            <a:avLst/>
          </a:prstGeom>
          <a:noFill/>
          <a:ln/>
        </p:spPr>
        <p:txBody>
          <a:bodyPr wrap="none" lIns="0" tIns="0" rIns="0" bIns="0" rtlCol="0" anchor="t"/>
          <a:lstStyle/>
          <a:p>
            <a:pPr algn="l" indent="0" marL="0">
              <a:lnSpc>
                <a:spcPct val="90000"/>
              </a:lnSpc>
              <a:buNone/>
            </a:pPr>
            <a:r>
              <a:rPr lang="en-US" sz="4200" spc="-50" kern="100" dirty="0">
                <a:solidFill>
                  <a:srgbClr val="F2ECFF"/>
                </a:solidFill>
                <a:latin typeface="Newsreader SemiBold" pitchFamily="34" charset="0"/>
                <a:ea typeface="Newsreader SemiBold" pitchFamily="34" charset="-122"/>
                <a:cs typeface="Newsreader SemiBold" pitchFamily="34" charset="-120"/>
              </a:rPr>
              <a:t>How a question becomes an answer</a:t>
            </a:r>
            <a:endParaRPr lang="en-US" sz="4200" dirty="0"/>
          </a:p>
        </p:txBody>
      </p:sp>
      <p:sp>
        <p:nvSpPr>
          <p:cNvPr id="5" name="Text 3"/>
          <p:cNvSpPr/>
          <p:nvPr/>
        </p:nvSpPr>
        <p:spPr>
          <a:xfrm>
            <a:off x="609585" y="2340074"/>
            <a:ext cx="11582110" cy="214610"/>
          </a:xfrm>
          <a:prstGeom prst="rect">
            <a:avLst/>
          </a:prstGeom>
          <a:noFill/>
          <a:ln/>
        </p:spPr>
        <p:txBody>
          <a:bodyPr wrap="none" lIns="0" tIns="0" rIns="0" bIns="0" rtlCol="0" anchor="t"/>
          <a:lstStyle/>
          <a:p>
            <a:pPr algn="l" indent="0" marL="0">
              <a:lnSpc>
                <a:spcPct val="108000"/>
              </a:lnSpc>
              <a:buNone/>
            </a:pPr>
            <a:r>
              <a:rPr lang="en-US" sz="1300" dirty="0">
                <a:solidFill>
                  <a:srgbClr val="B9B3D6"/>
                </a:solidFill>
                <a:latin typeface="IBM Plex Sans" pitchFamily="34" charset="0"/>
                <a:ea typeface="IBM Plex Sans" pitchFamily="34" charset="-122"/>
                <a:cs typeface="IBM Plex Sans" pitchFamily="34" charset="-120"/>
              </a:rPr>
              <a:t>Illustrative pseudocode · LLM: a language-generating model.</a:t>
            </a:r>
            <a:endParaRPr lang="en-US" sz="1300" dirty="0"/>
          </a:p>
        </p:txBody>
      </p:sp>
      <p:sp>
        <p:nvSpPr>
          <p:cNvPr id="6" name="Shape 4"/>
          <p:cNvSpPr/>
          <p:nvPr/>
        </p:nvSpPr>
        <p:spPr>
          <a:xfrm>
            <a:off x="609585" y="3441502"/>
            <a:ext cx="10972526" cy="1920081"/>
          </a:xfrm>
          <a:prstGeom prst="roundRect">
            <a:avLst>
              <a:gd name="adj" fmla="val 595"/>
            </a:avLst>
          </a:prstGeom>
          <a:solidFill>
            <a:srgbClr val="161B45"/>
          </a:solidFill>
          <a:ln/>
        </p:spPr>
      </p:sp>
      <p:sp>
        <p:nvSpPr>
          <p:cNvPr id="7" name="Text 5"/>
          <p:cNvSpPr/>
          <p:nvPr/>
        </p:nvSpPr>
        <p:spPr>
          <a:xfrm>
            <a:off x="883819" y="3670102"/>
            <a:ext cx="10424058" cy="1462881"/>
          </a:xfrm>
          <a:prstGeom prst="rect">
            <a:avLst/>
          </a:prstGeom>
          <a:noFill/>
          <a:ln/>
        </p:spPr>
        <p:txBody>
          <a:bodyPr wrap="square" lIns="0" tIns="0" rIns="0" bIns="0" rtlCol="0" anchor="t">
            <a:normAutofit/>
          </a:bodyPr>
          <a:lstStyle/>
          <a:p>
            <a:pPr algn="l" indent="0" marL="0">
              <a:lnSpc>
                <a:spcPct val="133000"/>
              </a:lnSpc>
              <a:buNone/>
            </a:pPr>
            <a:r>
              <a:rPr lang="en-US" sz="1800" dirty="0">
                <a:solidFill>
                  <a:srgbClr val="E6EDF3"/>
                </a:solidFill>
                <a:latin typeface="Consolas" pitchFamily="34" charset="0"/>
                <a:ea typeface="Consolas" pitchFamily="34" charset="-122"/>
                <a:cs typeface="Consolas" pitchFamily="34" charset="-120"/>
              </a:rPr>
              <a:t>question = receive()                 # User question</a:t>
            </a:r>
            <a:endParaRPr lang="en-US" sz="1800" dirty="0"/>
          </a:p>
          <a:p>
            <a:pPr algn="l" indent="0" marL="0">
              <a:lnSpc>
                <a:spcPct val="133000"/>
              </a:lnSpc>
              <a:buNone/>
            </a:pPr>
            <a:r>
              <a:rPr lang="en-US" sz="1800" dirty="0">
                <a:solidFill>
                  <a:srgbClr val="E6EDF3"/>
                </a:solidFill>
                <a:latin typeface="Consolas" pitchFamily="34" charset="0"/>
                <a:ea typeface="Consolas" pitchFamily="34" charset="-122"/>
                <a:cs typeface="Consolas" pitchFamily="34" charset="-120"/>
              </a:rPr>
              <a:t>history = lookup_transactions()      # Transaction lookup</a:t>
            </a:r>
            <a:endParaRPr lang="en-US" sz="1800" dirty="0"/>
          </a:p>
          <a:p>
            <a:pPr algn="l" indent="0" marL="0">
              <a:lnSpc>
                <a:spcPct val="133000"/>
              </a:lnSpc>
              <a:buNone/>
            </a:pPr>
            <a:r>
              <a:rPr lang="en-US" sz="1800" dirty="0">
                <a:solidFill>
                  <a:srgbClr val="E6EDF3"/>
                </a:solidFill>
                <a:latin typeface="Consolas" pitchFamily="34" charset="0"/>
                <a:ea typeface="Consolas" pitchFamily="34" charset="-122"/>
                <a:cs typeface="Consolas" pitchFamily="34" charset="-120"/>
              </a:rPr>
              <a:t>prompt = context(question, history)  # LLM prompt with context</a:t>
            </a:r>
            <a:endParaRPr lang="en-US" sz="1800" dirty="0"/>
          </a:p>
          <a:p>
            <a:pPr algn="l" indent="0" marL="0">
              <a:lnSpc>
                <a:spcPct val="133000"/>
              </a:lnSpc>
              <a:buNone/>
            </a:pPr>
            <a:r>
              <a:rPr lang="en-US" sz="1800" dirty="0">
                <a:solidFill>
                  <a:srgbClr val="E6EDF3"/>
                </a:solidFill>
                <a:latin typeface="Consolas" pitchFamily="34" charset="0"/>
                <a:ea typeface="Consolas" pitchFamily="34" charset="-122"/>
                <a:cs typeface="Consolas" pitchFamily="34" charset="-120"/>
              </a:rPr>
              <a:t>answer = llm(prompt, lang="Bengali")  # Bengali answer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09585" y="711200"/>
            <a:ext cx="6032349" cy="5496620"/>
          </a:xfrm>
          <a:prstGeom prst="rect">
            <a:avLst/>
          </a:prstGeom>
          <a:solidFill>
            <a:srgbClr val="161B45"/>
          </a:solidFill>
          <a:ln/>
        </p:spPr>
      </p:sp>
      <p:sp>
        <p:nvSpPr>
          <p:cNvPr id="3" name="Text 1"/>
          <p:cNvSpPr/>
          <p:nvPr/>
        </p:nvSpPr>
        <p:spPr>
          <a:xfrm>
            <a:off x="990575" y="1066800"/>
            <a:ext cx="5879953" cy="182860"/>
          </a:xfrm>
          <a:prstGeom prst="rect">
            <a:avLst/>
          </a:prstGeom>
          <a:noFill/>
          <a:ln/>
        </p:spPr>
        <p:txBody>
          <a:bodyPr wrap="none" lIns="0" tIns="0" rIns="0" bIns="0" rtlCol="0" anchor="t"/>
          <a:lstStyle/>
          <a:p>
            <a:pPr algn="l" indent="0" marL="0">
              <a:lnSpc>
                <a:spcPct val="100000"/>
              </a:lnSpc>
              <a:buNone/>
            </a:pPr>
            <a:r>
              <a:rPr lang="en-US" sz="1200" spc="144" kern="100" dirty="0">
                <a:solidFill>
                  <a:srgbClr val="F2ECFF"/>
                </a:solidFill>
                <a:latin typeface="IBM Plex Sans SemiBold" pitchFamily="34" charset="0"/>
                <a:ea typeface="IBM Plex Sans SemiBold" pitchFamily="34" charset="-122"/>
                <a:cs typeface="IBM Plex Sans SemiBold" pitchFamily="34" charset="-120"/>
              </a:rPr>
              <a:t>DEMO</a:t>
            </a:r>
            <a:endParaRPr lang="en-US" sz="1200" dirty="0"/>
          </a:p>
        </p:txBody>
      </p:sp>
      <p:sp>
        <p:nvSpPr>
          <p:cNvPr id="4" name="Text 2"/>
          <p:cNvSpPr/>
          <p:nvPr/>
        </p:nvSpPr>
        <p:spPr>
          <a:xfrm>
            <a:off x="990575" y="1341735"/>
            <a:ext cx="5270368" cy="1097161"/>
          </a:xfrm>
          <a:prstGeom prst="rect">
            <a:avLst/>
          </a:prstGeom>
          <a:noFill/>
          <a:ln/>
        </p:spPr>
        <p:txBody>
          <a:bodyPr wrap="square" lIns="0" tIns="0" rIns="0" bIns="0" rtlCol="0" anchor="t">
            <a:normAutofit/>
          </a:bodyPr>
          <a:lstStyle/>
          <a:p>
            <a:pPr algn="l" indent="0" marL="0">
              <a:lnSpc>
                <a:spcPct val="90000"/>
              </a:lnSpc>
              <a:buNone/>
            </a:pPr>
            <a:r>
              <a:rPr lang="en-US" sz="4000" spc="-48" kern="100" dirty="0">
                <a:solidFill>
                  <a:srgbClr val="F2ECFF"/>
                </a:solidFill>
                <a:latin typeface="Newsreader SemiBold" pitchFamily="34" charset="0"/>
                <a:ea typeface="Newsreader SemiBold" pitchFamily="34" charset="-122"/>
                <a:cs typeface="Newsreader SemiBold" pitchFamily="34" charset="-120"/>
              </a:rPr>
              <a:t>Use case: the neighborhood shop</a:t>
            </a:r>
            <a:endParaRPr lang="en-US" sz="4000" dirty="0"/>
          </a:p>
        </p:txBody>
      </p:sp>
      <p:sp>
        <p:nvSpPr>
          <p:cNvPr id="5" name="Text 3"/>
          <p:cNvSpPr/>
          <p:nvPr/>
        </p:nvSpPr>
        <p:spPr>
          <a:xfrm>
            <a:off x="990575" y="2667496"/>
            <a:ext cx="5879953" cy="396875"/>
          </a:xfrm>
          <a:prstGeom prst="rect">
            <a:avLst/>
          </a:prstGeom>
          <a:noFill/>
          <a:ln/>
        </p:spPr>
        <p:txBody>
          <a:bodyPr wrap="none" lIns="0" tIns="0" rIns="0" bIns="0" rtlCol="0" anchor="t"/>
          <a:lstStyle/>
          <a:p>
            <a:pPr algn="l" indent="0" marL="0">
              <a:lnSpc>
                <a:spcPct val="104000"/>
              </a:lnSpc>
              <a:buNone/>
            </a:pPr>
            <a:r>
              <a:rPr lang="en-US" sz="2500" i="1" dirty="0">
                <a:solidFill>
                  <a:srgbClr val="F2ECFF"/>
                </a:solidFill>
                <a:latin typeface="IBM Plex Sans" pitchFamily="34" charset="0"/>
                <a:ea typeface="IBM Plex Sans" pitchFamily="34" charset="-122"/>
                <a:cs typeface="IBM Plex Sans" pitchFamily="34" charset="-120"/>
              </a:rPr>
              <a:t>“Can I save this month?”</a:t>
            </a:r>
            <a:endParaRPr lang="en-US" sz="2500" dirty="0"/>
          </a:p>
        </p:txBody>
      </p:sp>
      <p:sp>
        <p:nvSpPr>
          <p:cNvPr id="6" name="Text 4"/>
          <p:cNvSpPr/>
          <p:nvPr/>
        </p:nvSpPr>
        <p:spPr>
          <a:xfrm>
            <a:off x="990575" y="3458071"/>
            <a:ext cx="5270368" cy="630932"/>
          </a:xfrm>
          <a:prstGeom prst="rect">
            <a:avLst/>
          </a:prstGeom>
          <a:noFill/>
          <a:ln/>
        </p:spPr>
        <p:txBody>
          <a:bodyPr wrap="none" lIns="0" tIns="0" rIns="0" bIns="0" rtlCol="0" anchor="t"/>
          <a:lstStyle/>
          <a:p>
            <a:pPr algn="l" indent="0" marL="0">
              <a:lnSpc>
                <a:spcPct val="90000"/>
              </a:lnSpc>
              <a:buNone/>
            </a:pPr>
            <a:r>
              <a:rPr lang="en-US" sz="4600" spc="-55" kern="100" dirty="0">
                <a:solidFill>
                  <a:srgbClr val="4F8EF7"/>
                </a:solidFill>
                <a:latin typeface="Newsreader SemiBold" pitchFamily="34" charset="0"/>
                <a:ea typeface="Newsreader SemiBold" pitchFamily="34" charset="-122"/>
                <a:cs typeface="Newsreader SemiBold" pitchFamily="34" charset="-120"/>
              </a:rPr>
              <a:t>৳320</a:t>
            </a:r>
            <a:endParaRPr lang="en-US" sz="4600" dirty="0"/>
          </a:p>
        </p:txBody>
      </p:sp>
      <p:sp>
        <p:nvSpPr>
          <p:cNvPr id="7" name="Text 5"/>
          <p:cNvSpPr/>
          <p:nvPr/>
        </p:nvSpPr>
        <p:spPr>
          <a:xfrm>
            <a:off x="990575" y="4317603"/>
            <a:ext cx="5879953" cy="319980"/>
          </a:xfrm>
          <a:prstGeom prst="rect">
            <a:avLst/>
          </a:prstGeom>
          <a:noFill/>
          <a:ln/>
        </p:spPr>
        <p:txBody>
          <a:bodyPr wrap="none" lIns="0" tIns="0" rIns="0" bIns="0" rtlCol="0" anchor="t"/>
          <a:lstStyle/>
          <a:p>
            <a:pPr algn="l" indent="0" marL="0">
              <a:lnSpc>
                <a:spcPct val="117000"/>
              </a:lnSpc>
              <a:buNone/>
            </a:pPr>
            <a:r>
              <a:rPr lang="en-US" sz="1800" dirty="0">
                <a:solidFill>
                  <a:srgbClr val="F2ECFF"/>
                </a:solidFill>
                <a:latin typeface="IBM Plex Sans" pitchFamily="34" charset="0"/>
                <a:ea typeface="IBM Plex Sans" pitchFamily="34" charset="-122"/>
                <a:cs typeface="IBM Plex Sans" pitchFamily="34" charset="-120"/>
              </a:rPr>
              <a:t>Savings opportunity. End-of-month rent ahead.</a:t>
            </a:r>
            <a:endParaRPr lang="en-US" sz="1800" dirty="0"/>
          </a:p>
        </p:txBody>
      </p:sp>
      <p:sp>
        <p:nvSpPr>
          <p:cNvPr id="8" name="Shape 6"/>
          <p:cNvSpPr/>
          <p:nvPr/>
        </p:nvSpPr>
        <p:spPr>
          <a:xfrm>
            <a:off x="990575" y="4899521"/>
            <a:ext cx="1739162" cy="50701"/>
          </a:xfrm>
          <a:prstGeom prst="roundRect">
            <a:avLst>
              <a:gd name="adj" fmla="val 49999"/>
            </a:avLst>
          </a:prstGeom>
          <a:solidFill>
            <a:srgbClr val="4F8EF7"/>
          </a:solidFill>
          <a:ln/>
        </p:spPr>
      </p:sp>
      <p:sp>
        <p:nvSpPr>
          <p:cNvPr id="9" name="Text 7"/>
          <p:cNvSpPr/>
          <p:nvPr/>
        </p:nvSpPr>
        <p:spPr>
          <a:xfrm>
            <a:off x="990575" y="5212259"/>
            <a:ext cx="527036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2ECFF"/>
                </a:solidFill>
                <a:latin typeface="IBM Plex Sans" pitchFamily="34" charset="0"/>
                <a:ea typeface="IBM Plex Sans" pitchFamily="34" charset="-122"/>
                <a:cs typeface="IBM Plex Sans" pitchFamily="34" charset="-120"/>
              </a:rPr>
              <a:t>Educational guidance only. No money moves without permission.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algn="l" indent="0" marL="0">
              <a:lnSpc>
                <a:spcPct val="100000"/>
              </a:lnSpc>
              <a:buNone/>
            </a:pPr>
            <a:r>
              <a:rPr lang="en-US" sz="1200" spc="144" kern="100" dirty="0">
                <a:solidFill>
                  <a:srgbClr val="F2ECFF"/>
                </a:solidFill>
                <a:latin typeface="IBM Plex Sans SemiBold" pitchFamily="34" charset="0"/>
                <a:ea typeface="IBM Plex Sans SemiBold" pitchFamily="34" charset="-122"/>
                <a:cs typeface="IBM Plex Sans SemiBold" pitchFamily="34" charset="-120"/>
              </a:rPr>
              <a:t>TAKEAWAYS</a:t>
            </a:r>
            <a:endParaRPr lang="en-US" sz="1200" dirty="0"/>
          </a:p>
        </p:txBody>
      </p:sp>
      <p:sp>
        <p:nvSpPr>
          <p:cNvPr id="3" name="Shape 1"/>
          <p:cNvSpPr/>
          <p:nvPr/>
        </p:nvSpPr>
        <p:spPr>
          <a:xfrm>
            <a:off x="609585" y="1054398"/>
            <a:ext cx="10972526" cy="31651"/>
          </a:xfrm>
          <a:prstGeom prst="roundRect">
            <a:avLst>
              <a:gd name="adj" fmla="val 49998"/>
            </a:avLst>
          </a:prstGeom>
          <a:solidFill>
            <a:srgbClr val="3E3A66"/>
          </a:solidFill>
          <a:ln/>
        </p:spPr>
      </p:sp>
      <p:sp>
        <p:nvSpPr>
          <p:cNvPr id="4" name="Text 2"/>
          <p:cNvSpPr/>
          <p:nvPr/>
        </p:nvSpPr>
        <p:spPr>
          <a:xfrm>
            <a:off x="609585" y="1535410"/>
            <a:ext cx="10972526" cy="576064"/>
          </a:xfrm>
          <a:prstGeom prst="rect">
            <a:avLst/>
          </a:prstGeom>
          <a:noFill/>
          <a:ln/>
        </p:spPr>
        <p:txBody>
          <a:bodyPr wrap="none" lIns="0" tIns="0" rIns="0" bIns="0" rtlCol="0" anchor="t"/>
          <a:lstStyle/>
          <a:p>
            <a:pPr algn="l" indent="0" marL="0">
              <a:lnSpc>
                <a:spcPct val="90000"/>
              </a:lnSpc>
              <a:buNone/>
            </a:pPr>
            <a:r>
              <a:rPr lang="en-US" sz="4200" spc="-50" kern="100" dirty="0">
                <a:solidFill>
                  <a:srgbClr val="F2ECFF"/>
                </a:solidFill>
                <a:latin typeface="Newsreader SemiBold" pitchFamily="34" charset="0"/>
                <a:ea typeface="Newsreader SemiBold" pitchFamily="34" charset="-122"/>
                <a:cs typeface="Newsreader SemiBold" pitchFamily="34" charset="-120"/>
              </a:rPr>
              <a:t>Three things to remember</a:t>
            </a:r>
            <a:endParaRPr lang="en-US" sz="4200" dirty="0"/>
          </a:p>
        </p:txBody>
      </p:sp>
      <p:pic>
        <p:nvPicPr>
          <p:cNvPr id="5" name="Image 0" descr="preencoded.png">    </p:cNvPr>
          <p:cNvPicPr>
            <a:picLocks noChangeAspect="1"/>
          </p:cNvPicPr>
          <p:nvPr/>
        </p:nvPicPr>
        <p:blipFill>
          <a:blip r:embed="rId1"/>
          <a:stretch>
            <a:fillRect/>
          </a:stretch>
        </p:blipFill>
        <p:spPr>
          <a:xfrm>
            <a:off x="609585" y="2563713"/>
            <a:ext cx="507987" cy="508000"/>
          </a:xfrm>
          <a:prstGeom prst="rect">
            <a:avLst/>
          </a:prstGeom>
        </p:spPr>
      </p:pic>
      <p:sp>
        <p:nvSpPr>
          <p:cNvPr id="6" name="Text 3"/>
          <p:cNvSpPr/>
          <p:nvPr/>
        </p:nvSpPr>
        <p:spPr>
          <a:xfrm>
            <a:off x="1371566" y="2625725"/>
            <a:ext cx="10210545" cy="426641"/>
          </a:xfrm>
          <a:prstGeom prst="rect">
            <a:avLst/>
          </a:prstGeom>
          <a:noFill/>
          <a:ln/>
        </p:spPr>
        <p:txBody>
          <a:bodyPr wrap="none" lIns="0" tIns="0" rIns="0" bIns="0" rtlCol="0" anchor="t"/>
          <a:lstStyle/>
          <a:p>
            <a:pPr algn="l" indent="0" marL="0">
              <a:lnSpc>
                <a:spcPct val="100000"/>
              </a:lnSpc>
              <a:buNone/>
            </a:pPr>
            <a:r>
              <a:rPr lang="en-US" sz="2800" dirty="0">
                <a:solidFill>
                  <a:srgbClr val="F2ECFF"/>
                </a:solidFill>
                <a:latin typeface="IBM Plex Sans SemiBold" pitchFamily="34" charset="0"/>
                <a:ea typeface="IBM Plex Sans SemiBold" pitchFamily="34" charset="-122"/>
                <a:cs typeface="IBM Plex Sans SemiBold" pitchFamily="34" charset="-120"/>
              </a:rPr>
              <a:t>Build for local language and real users</a:t>
            </a:r>
            <a:endParaRPr lang="en-US" sz="2800" dirty="0"/>
          </a:p>
        </p:txBody>
      </p:sp>
      <p:pic>
        <p:nvPicPr>
          <p:cNvPr id="7" name="Image 1" descr="preencoded.png">    </p:cNvPr>
          <p:cNvPicPr>
            <a:picLocks noChangeAspect="1"/>
          </p:cNvPicPr>
          <p:nvPr/>
        </p:nvPicPr>
        <p:blipFill>
          <a:blip r:embed="rId2"/>
          <a:stretch>
            <a:fillRect/>
          </a:stretch>
        </p:blipFill>
        <p:spPr>
          <a:xfrm>
            <a:off x="609585" y="4018855"/>
            <a:ext cx="507987" cy="508000"/>
          </a:xfrm>
          <a:prstGeom prst="rect">
            <a:avLst/>
          </a:prstGeom>
        </p:spPr>
      </p:pic>
      <p:sp>
        <p:nvSpPr>
          <p:cNvPr id="8" name="Text 4"/>
          <p:cNvSpPr/>
          <p:nvPr/>
        </p:nvSpPr>
        <p:spPr>
          <a:xfrm>
            <a:off x="1371566" y="4080867"/>
            <a:ext cx="10210545" cy="426641"/>
          </a:xfrm>
          <a:prstGeom prst="rect">
            <a:avLst/>
          </a:prstGeom>
          <a:noFill/>
          <a:ln/>
        </p:spPr>
        <p:txBody>
          <a:bodyPr wrap="none" lIns="0" tIns="0" rIns="0" bIns="0" rtlCol="0" anchor="t"/>
          <a:lstStyle/>
          <a:p>
            <a:pPr algn="l" indent="0" marL="0">
              <a:lnSpc>
                <a:spcPct val="100000"/>
              </a:lnSpc>
              <a:buNone/>
            </a:pPr>
            <a:r>
              <a:rPr lang="en-US" sz="2800" dirty="0">
                <a:solidFill>
                  <a:srgbClr val="F2ECFF"/>
                </a:solidFill>
                <a:latin typeface="IBM Plex Sans SemiBold" pitchFamily="34" charset="0"/>
                <a:ea typeface="IBM Plex Sans SemiBold" pitchFamily="34" charset="-122"/>
                <a:cs typeface="IBM Plex Sans SemiBold" pitchFamily="34" charset="-120"/>
              </a:rPr>
              <a:t>Forecast first, then nudge</a:t>
            </a:r>
            <a:endParaRPr lang="en-US" sz="2800" dirty="0"/>
          </a:p>
        </p:txBody>
      </p:sp>
      <p:pic>
        <p:nvPicPr>
          <p:cNvPr id="9" name="Image 2" descr="preencoded.png">    </p:cNvPr>
          <p:cNvPicPr>
            <a:picLocks noChangeAspect="1"/>
          </p:cNvPicPr>
          <p:nvPr/>
        </p:nvPicPr>
        <p:blipFill>
          <a:blip r:embed="rId3"/>
          <a:stretch>
            <a:fillRect/>
          </a:stretch>
        </p:blipFill>
        <p:spPr>
          <a:xfrm>
            <a:off x="609585" y="5473998"/>
            <a:ext cx="507987" cy="508000"/>
          </a:xfrm>
          <a:prstGeom prst="rect">
            <a:avLst/>
          </a:prstGeom>
        </p:spPr>
      </p:pic>
      <p:sp>
        <p:nvSpPr>
          <p:cNvPr id="10" name="Text 5"/>
          <p:cNvSpPr/>
          <p:nvPr/>
        </p:nvSpPr>
        <p:spPr>
          <a:xfrm>
            <a:off x="1371566" y="5536009"/>
            <a:ext cx="10210545" cy="426641"/>
          </a:xfrm>
          <a:prstGeom prst="rect">
            <a:avLst/>
          </a:prstGeom>
          <a:noFill/>
          <a:ln/>
        </p:spPr>
        <p:txBody>
          <a:bodyPr wrap="none" lIns="0" tIns="0" rIns="0" bIns="0" rtlCol="0" anchor="t"/>
          <a:lstStyle/>
          <a:p>
            <a:pPr algn="l" indent="0" marL="0">
              <a:lnSpc>
                <a:spcPct val="100000"/>
              </a:lnSpc>
              <a:buNone/>
            </a:pPr>
            <a:r>
              <a:rPr lang="en-US" sz="2800" dirty="0">
                <a:solidFill>
                  <a:srgbClr val="F2ECFF"/>
                </a:solidFill>
                <a:latin typeface="IBM Plex Sans SemiBold" pitchFamily="34" charset="0"/>
                <a:ea typeface="IBM Plex Sans SemiBold" pitchFamily="34" charset="-122"/>
                <a:cs typeface="IBM Plex Sans SemiBold" pitchFamily="34" charset="-120"/>
              </a:rPr>
              <a:t>Keep the user in control</a:t>
            </a:r>
            <a:endParaRPr lang="en-US" sz="2800" dirty="0"/>
          </a:p>
        </p:txBody>
      </p:sp>
      <p:sp>
        <p:nvSpPr>
          <p:cNvPr id="11" name="Shape 6"/>
          <p:cNvSpPr/>
          <p:nvPr/>
        </p:nvSpPr>
        <p:spPr>
          <a:xfrm>
            <a:off x="609585" y="3560266"/>
            <a:ext cx="10972526" cy="12700"/>
          </a:xfrm>
          <a:prstGeom prst="rect">
            <a:avLst/>
          </a:prstGeom>
          <a:solidFill>
            <a:srgbClr val="808080">
              <a:alpha val="35000"/>
            </a:srgbClr>
          </a:solidFill>
          <a:ln/>
        </p:spPr>
      </p:sp>
      <p:sp>
        <p:nvSpPr>
          <p:cNvPr id="12" name="Shape 7"/>
          <p:cNvSpPr/>
          <p:nvPr/>
        </p:nvSpPr>
        <p:spPr>
          <a:xfrm>
            <a:off x="609585" y="5015409"/>
            <a:ext cx="10972526" cy="12700"/>
          </a:xfrm>
          <a:prstGeom prst="rect">
            <a:avLst/>
          </a:prstGeom>
          <a:solidFill>
            <a:srgbClr val="808080">
              <a:alpha val="35000"/>
            </a:srgbClr>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09600"/>
            <a:ext cx="7111822" cy="182860"/>
          </a:xfrm>
          <a:prstGeom prst="rect">
            <a:avLst/>
          </a:prstGeom>
          <a:noFill/>
          <a:ln/>
        </p:spPr>
        <p:txBody>
          <a:bodyPr wrap="none" lIns="0" tIns="0" rIns="0" bIns="0" rtlCol="0" anchor="t"/>
          <a:lstStyle/>
          <a:p>
            <a:pPr algn="l" indent="0" marL="0">
              <a:lnSpc>
                <a:spcPct val="100000"/>
              </a:lnSpc>
              <a:buNone/>
            </a:pPr>
            <a:r>
              <a:rPr lang="en-US" sz="1200" spc="144" kern="100" dirty="0">
                <a:solidFill>
                  <a:srgbClr val="F2ECFF"/>
                </a:solidFill>
                <a:latin typeface="IBM Plex Sans SemiBold" pitchFamily="34" charset="0"/>
                <a:ea typeface="IBM Plex Sans SemiBold" pitchFamily="34" charset="-122"/>
                <a:cs typeface="IBM Plex Sans SemiBold" pitchFamily="34" charset="-120"/>
              </a:rPr>
              <a:t>TEAM POLARIS</a:t>
            </a:r>
            <a:endParaRPr lang="en-US" sz="1200" dirty="0"/>
          </a:p>
        </p:txBody>
      </p:sp>
      <p:sp>
        <p:nvSpPr>
          <p:cNvPr id="3" name="Text 1"/>
          <p:cNvSpPr/>
          <p:nvPr/>
        </p:nvSpPr>
        <p:spPr>
          <a:xfrm>
            <a:off x="609585" y="998835"/>
            <a:ext cx="7111822" cy="214610"/>
          </a:xfrm>
          <a:prstGeom prst="rect">
            <a:avLst/>
          </a:prstGeom>
          <a:noFill/>
          <a:ln/>
        </p:spPr>
        <p:txBody>
          <a:bodyPr wrap="none" lIns="0" tIns="0" rIns="0" bIns="0" rtlCol="0" anchor="t"/>
          <a:lstStyle/>
          <a:p>
            <a:pPr algn="l" indent="0" marL="0">
              <a:lnSpc>
                <a:spcPct val="108000"/>
              </a:lnSpc>
              <a:buNone/>
            </a:pPr>
            <a:r>
              <a:rPr lang="en-US" sz="1300" dirty="0">
                <a:solidFill>
                  <a:srgbClr val="B9B3D6"/>
                </a:solidFill>
                <a:latin typeface="IBM Plex Sans" pitchFamily="34" charset="0"/>
                <a:ea typeface="IBM Plex Sans" pitchFamily="34" charset="-122"/>
                <a:cs typeface="IBM Plex Sans" pitchFamily="34" charset="-120"/>
              </a:rPr>
              <a:t>Soumitra Saha · Dipta Kumar Das · K.M. Taskif Bin Parves</a:t>
            </a:r>
            <a:endParaRPr lang="en-US" sz="1300" dirty="0"/>
          </a:p>
        </p:txBody>
      </p:sp>
      <p:sp>
        <p:nvSpPr>
          <p:cNvPr id="4" name="Shape 2"/>
          <p:cNvSpPr/>
          <p:nvPr/>
        </p:nvSpPr>
        <p:spPr>
          <a:xfrm>
            <a:off x="609585" y="1475383"/>
            <a:ext cx="6502237" cy="31651"/>
          </a:xfrm>
          <a:prstGeom prst="roundRect">
            <a:avLst>
              <a:gd name="adj" fmla="val 49998"/>
            </a:avLst>
          </a:prstGeom>
          <a:solidFill>
            <a:srgbClr val="3E3A66"/>
          </a:solidFill>
          <a:ln/>
        </p:spPr>
      </p:sp>
      <p:sp>
        <p:nvSpPr>
          <p:cNvPr id="5" name="Text 3"/>
          <p:cNvSpPr/>
          <p:nvPr/>
        </p:nvSpPr>
        <p:spPr>
          <a:xfrm>
            <a:off x="609585" y="2180530"/>
            <a:ext cx="6502237" cy="1479153"/>
          </a:xfrm>
          <a:prstGeom prst="rect">
            <a:avLst/>
          </a:prstGeom>
          <a:noFill/>
          <a:ln/>
        </p:spPr>
        <p:txBody>
          <a:bodyPr wrap="square" lIns="0" tIns="0" rIns="0" bIns="0" rtlCol="0" anchor="t">
            <a:normAutofit/>
          </a:bodyPr>
          <a:lstStyle/>
          <a:p>
            <a:pPr algn="l" indent="0" marL="0">
              <a:lnSpc>
                <a:spcPct val="87000"/>
              </a:lnSpc>
              <a:buNone/>
            </a:pPr>
            <a:r>
              <a:rPr lang="en-US" sz="5600" spc="-84" kern="100" dirty="0">
                <a:solidFill>
                  <a:srgbClr val="F2ECFF"/>
                </a:solidFill>
                <a:latin typeface="Newsreader SemiBold" pitchFamily="34" charset="0"/>
                <a:ea typeface="Newsreader SemiBold" pitchFamily="34" charset="-122"/>
                <a:cs typeface="Newsreader SemiBold" pitchFamily="34" charset="-120"/>
              </a:rPr>
              <a:t>Thank you!</a:t>
            </a:r>
            <a:endParaRPr lang="en-US" sz="5600" dirty="0"/>
          </a:p>
          <a:p>
            <a:pPr algn="l" indent="0" marL="0">
              <a:lnSpc>
                <a:spcPct val="87000"/>
              </a:lnSpc>
              <a:buNone/>
            </a:pPr>
            <a:r>
              <a:rPr lang="en-US" sz="5600" spc="-84" kern="100" dirty="0">
                <a:solidFill>
                  <a:srgbClr val="F2ECFF"/>
                </a:solidFill>
                <a:latin typeface="Newsreader SemiBold" pitchFamily="34" charset="0"/>
                <a:ea typeface="Newsreader SemiBold" pitchFamily="34" charset="-122"/>
                <a:cs typeface="Newsreader SemiBold" pitchFamily="34" charset="-120"/>
              </a:rPr>
              <a:t>Questions?</a:t>
            </a:r>
            <a:endParaRPr lang="en-US" sz="5600" dirty="0"/>
          </a:p>
        </p:txBody>
      </p:sp>
      <p:sp>
        <p:nvSpPr>
          <p:cNvPr id="6" name="Shape 4"/>
          <p:cNvSpPr/>
          <p:nvPr/>
        </p:nvSpPr>
        <p:spPr>
          <a:xfrm>
            <a:off x="609585" y="3945434"/>
            <a:ext cx="2145651" cy="76200"/>
          </a:xfrm>
          <a:prstGeom prst="roundRect">
            <a:avLst>
              <a:gd name="adj" fmla="val 49999"/>
            </a:avLst>
          </a:prstGeom>
          <a:solidFill>
            <a:srgbClr val="4F8EF7"/>
          </a:solidFill>
          <a:ln/>
        </p:spPr>
      </p:sp>
      <p:sp>
        <p:nvSpPr>
          <p:cNvPr id="7" name="Text 5"/>
          <p:cNvSpPr/>
          <p:nvPr/>
        </p:nvSpPr>
        <p:spPr>
          <a:xfrm>
            <a:off x="609585" y="4285159"/>
            <a:ext cx="6502237" cy="1130895"/>
          </a:xfrm>
          <a:prstGeom prst="rect">
            <a:avLst/>
          </a:prstGeom>
          <a:noFill/>
          <a:ln/>
        </p:spPr>
        <p:txBody>
          <a:bodyPr wrap="square" lIns="0" tIns="0" rIns="0" bIns="0" rtlCol="0" anchor="t"/>
          <a:lstStyle/>
          <a:p>
            <a:pPr algn="l" indent="0" marL="0">
              <a:lnSpc>
                <a:spcPct val="117000"/>
              </a:lnSpc>
              <a:spcAft>
                <a:spcPts val="1600"/>
              </a:spcAft>
              <a:buNone/>
            </a:pPr>
            <a:r>
              <a:rPr lang="en-US" sz="2600" dirty="0">
                <a:solidFill>
                  <a:srgbClr val="F2ECFF"/>
                </a:solidFill>
                <a:latin typeface="IBM Plex Sans" pitchFamily="34" charset="0"/>
                <a:ea typeface="IBM Plex Sans" pitchFamily="34" charset="-122"/>
                <a:cs typeface="IBM Plex Sans" pitchFamily="34" charset="-120"/>
              </a:rPr>
              <a:t>Try the app</a:t>
            </a:r>
            <a:endParaRPr lang="en-US" sz="2600" dirty="0"/>
          </a:p>
          <a:p>
            <a:pPr algn="l" indent="0" marL="0">
              <a:lnSpc>
                <a:spcPct val="117000"/>
              </a:lnSpc>
              <a:buNone/>
            </a:pPr>
            <a:r>
              <a:rPr lang="en-US" sz="2600" b="1" u="sng" dirty="0">
                <a:solidFill>
                  <a:srgbClr val="4F8EF7"/>
                </a:solidFill>
                <a:latin typeface="IBM Plex Sans Bold" pitchFamily="34" charset="0"/>
                <a:ea typeface="IBM Plex Sans Bold" pitchFamily="34" charset="-122"/>
                <a:cs typeface="IBM Plex Sans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shonchoy-copilot.vercel.app</a:t>
            </a:r>
            <a:endParaRPr lang="en-US" sz="2600" dirty="0"/>
          </a:p>
        </p:txBody>
      </p:sp>
      <p:sp>
        <p:nvSpPr>
          <p:cNvPr id="8" name="Text 6"/>
          <p:cNvSpPr/>
          <p:nvPr/>
        </p:nvSpPr>
        <p:spPr>
          <a:xfrm>
            <a:off x="609585" y="6033889"/>
            <a:ext cx="7111822" cy="214610"/>
          </a:xfrm>
          <a:prstGeom prst="rect">
            <a:avLst/>
          </a:prstGeom>
          <a:noFill/>
          <a:ln/>
        </p:spPr>
        <p:txBody>
          <a:bodyPr wrap="none" lIns="0" tIns="0" rIns="0" bIns="0" rtlCol="0" anchor="t"/>
          <a:lstStyle/>
          <a:p>
            <a:pPr algn="l" indent="0" marL="0">
              <a:lnSpc>
                <a:spcPct val="108000"/>
              </a:lnSpc>
              <a:buNone/>
            </a:pPr>
            <a:r>
              <a:rPr lang="en-US" sz="1300" dirty="0">
                <a:solidFill>
                  <a:srgbClr val="B9B3D6"/>
                </a:solidFill>
                <a:latin typeface="IBM Plex Sans" pitchFamily="34" charset="0"/>
                <a:ea typeface="IBM Plex Sans" pitchFamily="34" charset="-122"/>
                <a:cs typeface="IBM Plex Sans" pitchFamily="34" charset="-120"/>
              </a:rPr>
              <a:t>Contact placeholders: </a:t>
            </a:r>
            <a:pPr algn="l" indent="0" marL="0">
              <a:lnSpc>
                <a:spcPct val="108000"/>
              </a:lnSpc>
              <a:buNone/>
            </a:pPr>
            <a:r>
              <a:rPr lang="en-US" sz="1300" b="1" u="sng" dirty="0">
                <a:solidFill>
                  <a:srgbClr val="6887CA"/>
                </a:solidFill>
                <a:latin typeface="IBM Plex Sans Bold" pitchFamily="34" charset="0"/>
                <a:ea typeface="IBM Plex Sans Bold" pitchFamily="34" charset="-122"/>
                <a:cs typeface="IBM Plex Sans Bold"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https://github.com/Soumitra-32/AI_DEV_FEST/</a:t>
            </a:r>
            <a:endParaRPr lang="en-US" sz="1300" dirty="0"/>
          </a:p>
        </p:txBody>
      </p:sp>
      <p:pic>
        <p:nvPicPr>
          <p:cNvPr id="9" name="Image 0" descr="preencoded.png">    </p:cNvPr>
          <p:cNvPicPr>
            <a:picLocks noChangeAspect="1"/>
          </p:cNvPicPr>
          <p:nvPr/>
        </p:nvPicPr>
        <p:blipFill>
          <a:blip r:embed="rId3"/>
          <a:stretch>
            <a:fillRect/>
          </a:stretch>
        </p:blipFill>
        <p:spPr>
          <a:xfrm>
            <a:off x="8330992" y="1755080"/>
            <a:ext cx="3251119" cy="324177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4F8EF7"/>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2026-10-03T22:42:24Z</dcterms:created>
  <dcterms:modified xsi:type="dcterms:W3CDTF">2026-10-03T22:42:24Z</dcterms:modified>
</cp:coreProperties>
</file>